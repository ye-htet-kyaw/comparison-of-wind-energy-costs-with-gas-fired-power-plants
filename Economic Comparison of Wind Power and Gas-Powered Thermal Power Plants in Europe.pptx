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Aileron" panose="020B0604020202020204" charset="0"/>
      <p:regular r:id="rId23"/>
    </p:embeddedFont>
    <p:embeddedFont>
      <p:font typeface="Canva Sans" panose="020B0604020202020204" charset="0"/>
      <p:regular r:id="rId24"/>
    </p:embeddedFont>
    <p:embeddedFont>
      <p:font typeface="Canva Sans Bold" panose="020B0604020202020204" charset="0"/>
      <p:regular r:id="rId25"/>
    </p:embeddedFont>
    <p:embeddedFont>
      <p:font typeface="Canva Sans Italics" panose="020B0604020202020204" charset="0"/>
      <p:regular r:id="rId26"/>
    </p:embeddedFont>
    <p:embeddedFont>
      <p:font typeface="Comic Sans" panose="020B0604020202020204" charset="0"/>
      <p:regular r:id="rId27"/>
    </p:embeddedFont>
    <p:embeddedFont>
      <p:font typeface="Comic Sans Bold" panose="020B0604020202020204" charset="0"/>
      <p:regular r:id="rId28"/>
    </p:embeddedFont>
    <p:embeddedFont>
      <p:font typeface="March" panose="02000500000000000000" charset="0"/>
      <p:regular r:id="rId29"/>
    </p:embeddedFont>
    <p:embeddedFont>
      <p:font typeface="March Rough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76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0" b="-110"/>
            </a:stretch>
          </a:blipFill>
        </p:spPr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37615" y="5143500"/>
            <a:ext cx="5992626" cy="5565651"/>
          </a:xfrm>
          <a:custGeom>
            <a:avLst/>
            <a:gdLst/>
            <a:ahLst/>
            <a:cxnLst/>
            <a:rect l="l" t="t" r="r" b="b"/>
            <a:pathLst>
              <a:path w="5992626" h="5565651">
                <a:moveTo>
                  <a:pt x="0" y="0"/>
                </a:moveTo>
                <a:lnTo>
                  <a:pt x="5992626" y="0"/>
                </a:lnTo>
                <a:lnTo>
                  <a:pt x="5992626" y="5565651"/>
                </a:lnTo>
                <a:lnTo>
                  <a:pt x="0" y="556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8100000">
            <a:off x="13632989" y="-963604"/>
            <a:ext cx="5992626" cy="5565651"/>
          </a:xfrm>
          <a:custGeom>
            <a:avLst/>
            <a:gdLst/>
            <a:ahLst/>
            <a:cxnLst/>
            <a:rect l="l" t="t" r="r" b="b"/>
            <a:pathLst>
              <a:path w="5992626" h="5565651">
                <a:moveTo>
                  <a:pt x="0" y="0"/>
                </a:moveTo>
                <a:lnTo>
                  <a:pt x="5992626" y="0"/>
                </a:lnTo>
                <a:lnTo>
                  <a:pt x="5992626" y="5565651"/>
                </a:lnTo>
                <a:lnTo>
                  <a:pt x="0" y="556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6916168">
            <a:off x="15729047" y="6361445"/>
            <a:ext cx="3060506" cy="3238631"/>
          </a:xfrm>
          <a:custGeom>
            <a:avLst/>
            <a:gdLst/>
            <a:ahLst/>
            <a:cxnLst/>
            <a:rect l="l" t="t" r="r" b="b"/>
            <a:pathLst>
              <a:path w="3060506" h="3238631">
                <a:moveTo>
                  <a:pt x="0" y="0"/>
                </a:moveTo>
                <a:lnTo>
                  <a:pt x="3060506" y="0"/>
                </a:lnTo>
                <a:lnTo>
                  <a:pt x="3060506" y="3238631"/>
                </a:lnTo>
                <a:lnTo>
                  <a:pt x="0" y="32386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094770">
            <a:off x="-501553" y="199906"/>
            <a:ext cx="3060506" cy="3238631"/>
          </a:xfrm>
          <a:custGeom>
            <a:avLst/>
            <a:gdLst/>
            <a:ahLst/>
            <a:cxnLst/>
            <a:rect l="l" t="t" r="r" b="b"/>
            <a:pathLst>
              <a:path w="3060506" h="3238631">
                <a:moveTo>
                  <a:pt x="0" y="0"/>
                </a:moveTo>
                <a:lnTo>
                  <a:pt x="3060506" y="0"/>
                </a:lnTo>
                <a:lnTo>
                  <a:pt x="3060506" y="3238631"/>
                </a:lnTo>
                <a:lnTo>
                  <a:pt x="0" y="32386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920026">
            <a:off x="8076950" y="8287793"/>
            <a:ext cx="5992626" cy="5565651"/>
          </a:xfrm>
          <a:custGeom>
            <a:avLst/>
            <a:gdLst/>
            <a:ahLst/>
            <a:cxnLst/>
            <a:rect l="l" t="t" r="r" b="b"/>
            <a:pathLst>
              <a:path w="5992626" h="5565651">
                <a:moveTo>
                  <a:pt x="0" y="0"/>
                </a:moveTo>
                <a:lnTo>
                  <a:pt x="5992625" y="0"/>
                </a:lnTo>
                <a:lnTo>
                  <a:pt x="5992625" y="5565651"/>
                </a:lnTo>
                <a:lnTo>
                  <a:pt x="0" y="556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98971" y="436237"/>
            <a:ext cx="16560329" cy="9330635"/>
            <a:chOff x="0" y="0"/>
            <a:chExt cx="4361568" cy="24574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61568" cy="2457451"/>
            </a:xfrm>
            <a:custGeom>
              <a:avLst/>
              <a:gdLst/>
              <a:ahLst/>
              <a:cxnLst/>
              <a:rect l="l" t="t" r="r" b="b"/>
              <a:pathLst>
                <a:path w="4361568" h="2457451">
                  <a:moveTo>
                    <a:pt x="0" y="0"/>
                  </a:moveTo>
                  <a:lnTo>
                    <a:pt x="4361568" y="0"/>
                  </a:lnTo>
                  <a:lnTo>
                    <a:pt x="4361568" y="2457451"/>
                  </a:lnTo>
                  <a:lnTo>
                    <a:pt x="0" y="2457451"/>
                  </a:lnTo>
                  <a:close/>
                </a:path>
              </a:pathLst>
            </a:custGeom>
            <a:solidFill>
              <a:srgbClr val="FEF5D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61568" cy="249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58698" y="1395026"/>
            <a:ext cx="14970604" cy="4431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sz="8000">
                <a:solidFill>
                  <a:srgbClr val="000000"/>
                </a:solidFill>
                <a:latin typeface="March Rough"/>
                <a:ea typeface="March Rough"/>
                <a:cs typeface="March Rough"/>
                <a:sym typeface="March Rough"/>
              </a:rPr>
              <a:t>ECONOMIC COMPARISON OF WIND POWER </a:t>
            </a:r>
          </a:p>
          <a:p>
            <a:pPr algn="ctr">
              <a:lnSpc>
                <a:spcPts val="6880"/>
              </a:lnSpc>
            </a:pPr>
            <a:r>
              <a:rPr lang="en-US" sz="8000">
                <a:solidFill>
                  <a:srgbClr val="000000"/>
                </a:solidFill>
                <a:latin typeface="March Rough"/>
                <a:ea typeface="March Rough"/>
                <a:cs typeface="March Rough"/>
                <a:sym typeface="March Rough"/>
              </a:rPr>
              <a:t>AND</a:t>
            </a:r>
          </a:p>
          <a:p>
            <a:pPr algn="ctr">
              <a:lnSpc>
                <a:spcPts val="6880"/>
              </a:lnSpc>
            </a:pPr>
            <a:r>
              <a:rPr lang="en-US" sz="8000">
                <a:solidFill>
                  <a:srgbClr val="000000"/>
                </a:solidFill>
                <a:latin typeface="March Rough"/>
                <a:ea typeface="March Rough"/>
                <a:cs typeface="March Rough"/>
                <a:sym typeface="March Rough"/>
              </a:rPr>
              <a:t> GAS-POWERED THERMAL POWER PLANTS IN EUROPE</a:t>
            </a:r>
          </a:p>
        </p:txBody>
      </p:sp>
      <p:sp>
        <p:nvSpPr>
          <p:cNvPr id="11" name="Freeform 11"/>
          <p:cNvSpPr/>
          <p:nvPr/>
        </p:nvSpPr>
        <p:spPr>
          <a:xfrm rot="8983585">
            <a:off x="4663767" y="-3746429"/>
            <a:ext cx="5992626" cy="5565651"/>
          </a:xfrm>
          <a:custGeom>
            <a:avLst/>
            <a:gdLst/>
            <a:ahLst/>
            <a:cxnLst/>
            <a:rect l="l" t="t" r="r" b="b"/>
            <a:pathLst>
              <a:path w="5992626" h="5565651">
                <a:moveTo>
                  <a:pt x="0" y="0"/>
                </a:moveTo>
                <a:lnTo>
                  <a:pt x="5992626" y="0"/>
                </a:lnTo>
                <a:lnTo>
                  <a:pt x="5992626" y="5565651"/>
                </a:lnTo>
                <a:lnTo>
                  <a:pt x="0" y="556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8700" y="6291886"/>
            <a:ext cx="3450004" cy="3268879"/>
          </a:xfrm>
          <a:custGeom>
            <a:avLst/>
            <a:gdLst/>
            <a:ahLst/>
            <a:cxnLst/>
            <a:rect l="l" t="t" r="r" b="b"/>
            <a:pathLst>
              <a:path w="3450004" h="3268879">
                <a:moveTo>
                  <a:pt x="0" y="0"/>
                </a:moveTo>
                <a:lnTo>
                  <a:pt x="3450004" y="0"/>
                </a:lnTo>
                <a:lnTo>
                  <a:pt x="3450004" y="3268879"/>
                </a:lnTo>
                <a:lnTo>
                  <a:pt x="0" y="3268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84932" y="6694136"/>
            <a:ext cx="3449955" cy="2866629"/>
          </a:xfrm>
          <a:custGeom>
            <a:avLst/>
            <a:gdLst/>
            <a:ahLst/>
            <a:cxnLst/>
            <a:rect l="l" t="t" r="r" b="b"/>
            <a:pathLst>
              <a:path w="3449955" h="2866629">
                <a:moveTo>
                  <a:pt x="0" y="0"/>
                </a:moveTo>
                <a:lnTo>
                  <a:pt x="3449955" y="0"/>
                </a:lnTo>
                <a:lnTo>
                  <a:pt x="3449955" y="2866629"/>
                </a:lnTo>
                <a:lnTo>
                  <a:pt x="0" y="28666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761972" y="7086971"/>
            <a:ext cx="6815999" cy="247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PRESENTED BY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ANTHONY PENN NCHINDA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MD SAZZAD HOSSAIN KHAN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YE HTET KYAW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MD ASIFUR RAHMAN SAIKOT</a:t>
            </a:r>
          </a:p>
        </p:txBody>
      </p:sp>
      <p:sp>
        <p:nvSpPr>
          <p:cNvPr id="15" name="Freeform 15"/>
          <p:cNvSpPr/>
          <p:nvPr/>
        </p:nvSpPr>
        <p:spPr>
          <a:xfrm>
            <a:off x="4149121" y="2279921"/>
            <a:ext cx="1011780" cy="1207112"/>
          </a:xfrm>
          <a:custGeom>
            <a:avLst/>
            <a:gdLst/>
            <a:ahLst/>
            <a:cxnLst/>
            <a:rect l="l" t="t" r="r" b="b"/>
            <a:pathLst>
              <a:path w="1011780" h="1207112">
                <a:moveTo>
                  <a:pt x="0" y="0"/>
                </a:moveTo>
                <a:lnTo>
                  <a:pt x="1011780" y="0"/>
                </a:lnTo>
                <a:lnTo>
                  <a:pt x="1011780" y="1207113"/>
                </a:lnTo>
                <a:lnTo>
                  <a:pt x="0" y="12071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577971" y="2386783"/>
            <a:ext cx="888873" cy="1126938"/>
          </a:xfrm>
          <a:custGeom>
            <a:avLst/>
            <a:gdLst/>
            <a:ahLst/>
            <a:cxnLst/>
            <a:rect l="l" t="t" r="r" b="b"/>
            <a:pathLst>
              <a:path w="888873" h="1126938">
                <a:moveTo>
                  <a:pt x="0" y="0"/>
                </a:moveTo>
                <a:lnTo>
                  <a:pt x="888872" y="0"/>
                </a:lnTo>
                <a:lnTo>
                  <a:pt x="888872" y="1126938"/>
                </a:lnTo>
                <a:lnTo>
                  <a:pt x="0" y="11269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7999254"/>
            <a:chOff x="0" y="0"/>
            <a:chExt cx="4274726" cy="2106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06799"/>
            </a:xfrm>
            <a:custGeom>
              <a:avLst/>
              <a:gdLst/>
              <a:ahLst/>
              <a:cxnLst/>
              <a:rect l="l" t="t" r="r" b="b"/>
              <a:pathLst>
                <a:path w="4274726" h="2106799">
                  <a:moveTo>
                    <a:pt x="0" y="0"/>
                  </a:moveTo>
                  <a:lnTo>
                    <a:pt x="4274726" y="0"/>
                  </a:lnTo>
                  <a:lnTo>
                    <a:pt x="4274726" y="2106799"/>
                  </a:lnTo>
                  <a:lnTo>
                    <a:pt x="0" y="2106799"/>
                  </a:lnTo>
                  <a:close/>
                </a:path>
              </a:pathLst>
            </a:custGeom>
            <a:solidFill>
              <a:srgbClr val="FFFFFF"/>
            </a:solidFill>
            <a:ln w="304800" cap="sq">
              <a:solidFill>
                <a:srgbClr val="FEF5D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144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19080" y="1402603"/>
            <a:ext cx="14849841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March Rough"/>
                <a:ea typeface="March Rough"/>
                <a:cs typeface="March Rough"/>
                <a:sym typeface="March Rough"/>
              </a:rPr>
              <a:t>Presentation Outline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72001" y="9119158"/>
            <a:ext cx="6815999" cy="98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PRESENTED BY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ANTHONY PENN NCHINDA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842208" y="3222036"/>
            <a:ext cx="10603584" cy="3842927"/>
            <a:chOff x="0" y="0"/>
            <a:chExt cx="2792714" cy="10121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2713" cy="1012129"/>
            </a:xfrm>
            <a:custGeom>
              <a:avLst/>
              <a:gdLst/>
              <a:ahLst/>
              <a:cxnLst/>
              <a:rect l="l" t="t" r="r" b="b"/>
              <a:pathLst>
                <a:path w="2792713" h="1012129">
                  <a:moveTo>
                    <a:pt x="37236" y="0"/>
                  </a:moveTo>
                  <a:lnTo>
                    <a:pt x="2755477" y="0"/>
                  </a:lnTo>
                  <a:cubicBezTo>
                    <a:pt x="2765353" y="0"/>
                    <a:pt x="2774824" y="3923"/>
                    <a:pt x="2781807" y="10906"/>
                  </a:cubicBezTo>
                  <a:cubicBezTo>
                    <a:pt x="2788790" y="17889"/>
                    <a:pt x="2792713" y="27361"/>
                    <a:pt x="2792713" y="37236"/>
                  </a:cubicBezTo>
                  <a:lnTo>
                    <a:pt x="2792713" y="974893"/>
                  </a:lnTo>
                  <a:cubicBezTo>
                    <a:pt x="2792713" y="984768"/>
                    <a:pt x="2788790" y="994240"/>
                    <a:pt x="2781807" y="1001223"/>
                  </a:cubicBezTo>
                  <a:cubicBezTo>
                    <a:pt x="2774824" y="1008206"/>
                    <a:pt x="2765353" y="1012129"/>
                    <a:pt x="2755477" y="1012129"/>
                  </a:cubicBezTo>
                  <a:lnTo>
                    <a:pt x="37236" y="1012129"/>
                  </a:lnTo>
                  <a:cubicBezTo>
                    <a:pt x="27361" y="1012129"/>
                    <a:pt x="17889" y="1008206"/>
                    <a:pt x="10906" y="1001223"/>
                  </a:cubicBezTo>
                  <a:cubicBezTo>
                    <a:pt x="3923" y="994240"/>
                    <a:pt x="0" y="984768"/>
                    <a:pt x="0" y="974893"/>
                  </a:cubicBezTo>
                  <a:lnTo>
                    <a:pt x="0" y="37236"/>
                  </a:lnTo>
                  <a:cubicBezTo>
                    <a:pt x="0" y="27361"/>
                    <a:pt x="3923" y="17889"/>
                    <a:pt x="10906" y="10906"/>
                  </a:cubicBezTo>
                  <a:cubicBezTo>
                    <a:pt x="17889" y="3923"/>
                    <a:pt x="27361" y="0"/>
                    <a:pt x="37236" y="0"/>
                  </a:cubicBez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92714" cy="10502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782225" y="3562350"/>
            <a:ext cx="10723550" cy="3114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Thesis Statement and our goal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Infrastructure of wind energy and gas-fired power plants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Breakdown of O&amp;M costs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Comparison of cost per kWh in 20 years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Result and 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365324" y="-28575"/>
            <a:ext cx="922676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1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7999254"/>
            <a:chOff x="0" y="0"/>
            <a:chExt cx="4274726" cy="2106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06799"/>
            </a:xfrm>
            <a:custGeom>
              <a:avLst/>
              <a:gdLst/>
              <a:ahLst/>
              <a:cxnLst/>
              <a:rect l="l" t="t" r="r" b="b"/>
              <a:pathLst>
                <a:path w="4274726" h="2106799">
                  <a:moveTo>
                    <a:pt x="0" y="0"/>
                  </a:moveTo>
                  <a:lnTo>
                    <a:pt x="4274726" y="0"/>
                  </a:lnTo>
                  <a:lnTo>
                    <a:pt x="4274726" y="2106799"/>
                  </a:lnTo>
                  <a:lnTo>
                    <a:pt x="0" y="2106799"/>
                  </a:lnTo>
                  <a:close/>
                </a:path>
              </a:pathLst>
            </a:custGeom>
            <a:solidFill>
              <a:srgbClr val="FFFFFF"/>
            </a:solidFill>
            <a:ln w="304800" cap="sq">
              <a:solidFill>
                <a:srgbClr val="FEF5D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144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77099" y="1402603"/>
            <a:ext cx="14849841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March Rough"/>
                <a:ea typeface="March Rough"/>
                <a:cs typeface="March Rough"/>
                <a:sym typeface="March Rough"/>
              </a:rPr>
              <a:t>Thesis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72001" y="9119158"/>
            <a:ext cx="6815999" cy="98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PRESENTED BY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ANTHONY PENN NCHINDA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642549" y="3896845"/>
            <a:ext cx="13002902" cy="1399056"/>
            <a:chOff x="0" y="0"/>
            <a:chExt cx="3424633" cy="6566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24632" cy="656675"/>
            </a:xfrm>
            <a:custGeom>
              <a:avLst/>
              <a:gdLst/>
              <a:ahLst/>
              <a:cxnLst/>
              <a:rect l="l" t="t" r="r" b="b"/>
              <a:pathLst>
                <a:path w="3424632" h="656675">
                  <a:moveTo>
                    <a:pt x="30365" y="0"/>
                  </a:moveTo>
                  <a:lnTo>
                    <a:pt x="3394267" y="0"/>
                  </a:lnTo>
                  <a:cubicBezTo>
                    <a:pt x="3411038" y="0"/>
                    <a:pt x="3424632" y="13595"/>
                    <a:pt x="3424632" y="30365"/>
                  </a:cubicBezTo>
                  <a:lnTo>
                    <a:pt x="3424632" y="626309"/>
                  </a:lnTo>
                  <a:cubicBezTo>
                    <a:pt x="3424632" y="643080"/>
                    <a:pt x="3411038" y="656675"/>
                    <a:pt x="3394267" y="656675"/>
                  </a:cubicBezTo>
                  <a:lnTo>
                    <a:pt x="30365" y="656675"/>
                  </a:lnTo>
                  <a:cubicBezTo>
                    <a:pt x="13595" y="656675"/>
                    <a:pt x="0" y="643080"/>
                    <a:pt x="0" y="626309"/>
                  </a:cubicBezTo>
                  <a:lnTo>
                    <a:pt x="0" y="30365"/>
                  </a:lnTo>
                  <a:cubicBezTo>
                    <a:pt x="0" y="13595"/>
                    <a:pt x="13595" y="0"/>
                    <a:pt x="30365" y="0"/>
                  </a:cubicBez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424633" cy="694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176604" y="4348162"/>
            <a:ext cx="11934792" cy="50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Wind energy is cheaper than gas-fired thermal power plants.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365324" y="-28575"/>
            <a:ext cx="922676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2</a:t>
            </a: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7999254"/>
            <a:chOff x="0" y="0"/>
            <a:chExt cx="4274726" cy="2106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06799"/>
            </a:xfrm>
            <a:custGeom>
              <a:avLst/>
              <a:gdLst/>
              <a:ahLst/>
              <a:cxnLst/>
              <a:rect l="l" t="t" r="r" b="b"/>
              <a:pathLst>
                <a:path w="4274726" h="2106799">
                  <a:moveTo>
                    <a:pt x="0" y="0"/>
                  </a:moveTo>
                  <a:lnTo>
                    <a:pt x="4274726" y="0"/>
                  </a:lnTo>
                  <a:lnTo>
                    <a:pt x="4274726" y="2106799"/>
                  </a:lnTo>
                  <a:lnTo>
                    <a:pt x="0" y="2106799"/>
                  </a:lnTo>
                  <a:close/>
                </a:path>
              </a:pathLst>
            </a:custGeom>
            <a:solidFill>
              <a:srgbClr val="FFFFFF"/>
            </a:solidFill>
            <a:ln w="304800" cap="sq">
              <a:solidFill>
                <a:srgbClr val="FEF5D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144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77099" y="1402603"/>
            <a:ext cx="14849841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March Rough"/>
                <a:ea typeface="March Rough"/>
                <a:cs typeface="March Rough"/>
                <a:sym typeface="March Rough"/>
              </a:rPr>
              <a:t>Our Goal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72001" y="9119158"/>
            <a:ext cx="6815999" cy="98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PRESENTED BY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ANTHONY PENN NCHINDA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642549" y="3896844"/>
            <a:ext cx="13002902" cy="2493311"/>
            <a:chOff x="0" y="0"/>
            <a:chExt cx="3424633" cy="6566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24632" cy="656675"/>
            </a:xfrm>
            <a:custGeom>
              <a:avLst/>
              <a:gdLst/>
              <a:ahLst/>
              <a:cxnLst/>
              <a:rect l="l" t="t" r="r" b="b"/>
              <a:pathLst>
                <a:path w="3424632" h="656675">
                  <a:moveTo>
                    <a:pt x="30365" y="0"/>
                  </a:moveTo>
                  <a:lnTo>
                    <a:pt x="3394267" y="0"/>
                  </a:lnTo>
                  <a:cubicBezTo>
                    <a:pt x="3411038" y="0"/>
                    <a:pt x="3424632" y="13595"/>
                    <a:pt x="3424632" y="30365"/>
                  </a:cubicBezTo>
                  <a:lnTo>
                    <a:pt x="3424632" y="626309"/>
                  </a:lnTo>
                  <a:cubicBezTo>
                    <a:pt x="3424632" y="643080"/>
                    <a:pt x="3411038" y="656675"/>
                    <a:pt x="3394267" y="656675"/>
                  </a:cubicBezTo>
                  <a:lnTo>
                    <a:pt x="30365" y="656675"/>
                  </a:lnTo>
                  <a:cubicBezTo>
                    <a:pt x="13595" y="656675"/>
                    <a:pt x="0" y="643080"/>
                    <a:pt x="0" y="626309"/>
                  </a:cubicBezTo>
                  <a:lnTo>
                    <a:pt x="0" y="30365"/>
                  </a:lnTo>
                  <a:cubicBezTo>
                    <a:pt x="0" y="13595"/>
                    <a:pt x="13595" y="0"/>
                    <a:pt x="30365" y="0"/>
                  </a:cubicBez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424633" cy="694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176604" y="4348162"/>
            <a:ext cx="11934792" cy="154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To prove the wind energy, despite its high initial costs, is seen to be cheaper in the long run, especially in areas where gas prices are high and unstable.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365324" y="-28575"/>
            <a:ext cx="922676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3</a:t>
            </a: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7999254"/>
            <a:chOff x="0" y="0"/>
            <a:chExt cx="4274726" cy="2106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06799"/>
            </a:xfrm>
            <a:custGeom>
              <a:avLst/>
              <a:gdLst/>
              <a:ahLst/>
              <a:cxnLst/>
              <a:rect l="l" t="t" r="r" b="b"/>
              <a:pathLst>
                <a:path w="4274726" h="2106799">
                  <a:moveTo>
                    <a:pt x="0" y="0"/>
                  </a:moveTo>
                  <a:lnTo>
                    <a:pt x="4274726" y="0"/>
                  </a:lnTo>
                  <a:lnTo>
                    <a:pt x="4274726" y="2106799"/>
                  </a:lnTo>
                  <a:lnTo>
                    <a:pt x="0" y="2106799"/>
                  </a:lnTo>
                  <a:close/>
                </a:path>
              </a:pathLst>
            </a:custGeom>
            <a:solidFill>
              <a:srgbClr val="FFFFFF"/>
            </a:solidFill>
            <a:ln w="304800" cap="sq">
              <a:solidFill>
                <a:srgbClr val="FEF5D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144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77099" y="1402603"/>
            <a:ext cx="14849841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March Rough"/>
                <a:ea typeface="March Rough"/>
                <a:cs typeface="March Rough"/>
                <a:sym typeface="March Rough"/>
              </a:rPr>
              <a:t>Wind Energy Infrastructure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72001" y="9119158"/>
            <a:ext cx="6815999" cy="98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PRESENTED BY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MD SAZZAD HOSSAIN KHAN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691539" y="3119403"/>
            <a:ext cx="13002902" cy="4892629"/>
            <a:chOff x="0" y="0"/>
            <a:chExt cx="3424633" cy="12885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24632" cy="1288594"/>
            </a:xfrm>
            <a:custGeom>
              <a:avLst/>
              <a:gdLst/>
              <a:ahLst/>
              <a:cxnLst/>
              <a:rect l="l" t="t" r="r" b="b"/>
              <a:pathLst>
                <a:path w="3424632" h="1288594">
                  <a:moveTo>
                    <a:pt x="30365" y="0"/>
                  </a:moveTo>
                  <a:lnTo>
                    <a:pt x="3394267" y="0"/>
                  </a:lnTo>
                  <a:cubicBezTo>
                    <a:pt x="3411038" y="0"/>
                    <a:pt x="3424632" y="13595"/>
                    <a:pt x="3424632" y="30365"/>
                  </a:cubicBezTo>
                  <a:lnTo>
                    <a:pt x="3424632" y="1258228"/>
                  </a:lnTo>
                  <a:cubicBezTo>
                    <a:pt x="3424632" y="1274999"/>
                    <a:pt x="3411038" y="1288594"/>
                    <a:pt x="3394267" y="1288594"/>
                  </a:cubicBezTo>
                  <a:lnTo>
                    <a:pt x="30365" y="1288594"/>
                  </a:lnTo>
                  <a:cubicBezTo>
                    <a:pt x="22312" y="1288594"/>
                    <a:pt x="14588" y="1285394"/>
                    <a:pt x="8894" y="1279700"/>
                  </a:cubicBezTo>
                  <a:cubicBezTo>
                    <a:pt x="3199" y="1274005"/>
                    <a:pt x="0" y="1266282"/>
                    <a:pt x="0" y="1258228"/>
                  </a:cubicBezTo>
                  <a:lnTo>
                    <a:pt x="0" y="30365"/>
                  </a:lnTo>
                  <a:cubicBezTo>
                    <a:pt x="0" y="13595"/>
                    <a:pt x="13595" y="0"/>
                    <a:pt x="30365" y="0"/>
                  </a:cubicBez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424633" cy="13266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176604" y="3591906"/>
            <a:ext cx="11934792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Wind farms consist primarily of turbines that convert kinetic energy of the wind into electrical power. Each turbine has three main components: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82225" y="4754264"/>
            <a:ext cx="10723550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Rotor blades</a:t>
            </a:r>
          </a:p>
          <a:p>
            <a:pPr marL="518157" lvl="1" indent="-259078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Nacellee (houses the generator)</a:t>
            </a:r>
          </a:p>
          <a:p>
            <a:pPr marL="518157" lvl="1" indent="-259078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Tall tower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82310" y="6335722"/>
            <a:ext cx="11323379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Turbines are connected to the grid through substations to transmit power.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Wind energy relies on natural, renewable resources and requires less complex infrastructure than thermal power plants.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365324" y="-28575"/>
            <a:ext cx="922676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694440" y="7983456"/>
            <a:ext cx="952667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[1,2]</a:t>
            </a:r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7999254"/>
            <a:chOff x="0" y="0"/>
            <a:chExt cx="4274726" cy="2106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06799"/>
            </a:xfrm>
            <a:custGeom>
              <a:avLst/>
              <a:gdLst/>
              <a:ahLst/>
              <a:cxnLst/>
              <a:rect l="l" t="t" r="r" b="b"/>
              <a:pathLst>
                <a:path w="4274726" h="2106799">
                  <a:moveTo>
                    <a:pt x="0" y="0"/>
                  </a:moveTo>
                  <a:lnTo>
                    <a:pt x="4274726" y="0"/>
                  </a:lnTo>
                  <a:lnTo>
                    <a:pt x="4274726" y="2106799"/>
                  </a:lnTo>
                  <a:lnTo>
                    <a:pt x="0" y="2106799"/>
                  </a:lnTo>
                  <a:close/>
                </a:path>
              </a:pathLst>
            </a:custGeom>
            <a:solidFill>
              <a:srgbClr val="FFFFFF"/>
            </a:solidFill>
            <a:ln w="304800" cap="sq">
              <a:solidFill>
                <a:srgbClr val="FEF5D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144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266748" y="1785070"/>
            <a:ext cx="11754504" cy="6716860"/>
          </a:xfrm>
          <a:custGeom>
            <a:avLst/>
            <a:gdLst/>
            <a:ahLst/>
            <a:cxnLst/>
            <a:rect l="l" t="t" r="r" b="b"/>
            <a:pathLst>
              <a:path w="11754504" h="6716860">
                <a:moveTo>
                  <a:pt x="0" y="0"/>
                </a:moveTo>
                <a:lnTo>
                  <a:pt x="11754504" y="0"/>
                </a:lnTo>
                <a:lnTo>
                  <a:pt x="11754504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472001" y="9119158"/>
            <a:ext cx="6815999" cy="98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PRESENTED BY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MD SAZZAD HOSSAIN KHAN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65324" y="-28575"/>
            <a:ext cx="922676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17020" y="8241346"/>
            <a:ext cx="952667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[8]</a:t>
            </a: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7999254"/>
            <a:chOff x="0" y="0"/>
            <a:chExt cx="4274726" cy="2106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06799"/>
            </a:xfrm>
            <a:custGeom>
              <a:avLst/>
              <a:gdLst/>
              <a:ahLst/>
              <a:cxnLst/>
              <a:rect l="l" t="t" r="r" b="b"/>
              <a:pathLst>
                <a:path w="4274726" h="2106799">
                  <a:moveTo>
                    <a:pt x="0" y="0"/>
                  </a:moveTo>
                  <a:lnTo>
                    <a:pt x="4274726" y="0"/>
                  </a:lnTo>
                  <a:lnTo>
                    <a:pt x="4274726" y="2106799"/>
                  </a:lnTo>
                  <a:lnTo>
                    <a:pt x="0" y="2106799"/>
                  </a:lnTo>
                  <a:close/>
                </a:path>
              </a:pathLst>
            </a:custGeom>
            <a:solidFill>
              <a:srgbClr val="FFFFFF"/>
            </a:solidFill>
            <a:ln w="304800" cap="sq">
              <a:solidFill>
                <a:srgbClr val="FEF5D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144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77099" y="1402603"/>
            <a:ext cx="14849841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March Rough"/>
                <a:ea typeface="March Rough"/>
                <a:cs typeface="March Rough"/>
                <a:sym typeface="March Rough"/>
              </a:rPr>
              <a:t>Gas-Powered Thermal Power Plants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72001" y="9119158"/>
            <a:ext cx="6815999" cy="98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PRESENTED BY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MD SAZZAD HOSSAIN KHAN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691539" y="3119403"/>
            <a:ext cx="13002902" cy="4892629"/>
            <a:chOff x="0" y="0"/>
            <a:chExt cx="3424633" cy="12885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24632" cy="1288594"/>
            </a:xfrm>
            <a:custGeom>
              <a:avLst/>
              <a:gdLst/>
              <a:ahLst/>
              <a:cxnLst/>
              <a:rect l="l" t="t" r="r" b="b"/>
              <a:pathLst>
                <a:path w="3424632" h="1288594">
                  <a:moveTo>
                    <a:pt x="30365" y="0"/>
                  </a:moveTo>
                  <a:lnTo>
                    <a:pt x="3394267" y="0"/>
                  </a:lnTo>
                  <a:cubicBezTo>
                    <a:pt x="3411038" y="0"/>
                    <a:pt x="3424632" y="13595"/>
                    <a:pt x="3424632" y="30365"/>
                  </a:cubicBezTo>
                  <a:lnTo>
                    <a:pt x="3424632" y="1258228"/>
                  </a:lnTo>
                  <a:cubicBezTo>
                    <a:pt x="3424632" y="1274999"/>
                    <a:pt x="3411038" y="1288594"/>
                    <a:pt x="3394267" y="1288594"/>
                  </a:cubicBezTo>
                  <a:lnTo>
                    <a:pt x="30365" y="1288594"/>
                  </a:lnTo>
                  <a:cubicBezTo>
                    <a:pt x="22312" y="1288594"/>
                    <a:pt x="14588" y="1285394"/>
                    <a:pt x="8894" y="1279700"/>
                  </a:cubicBezTo>
                  <a:cubicBezTo>
                    <a:pt x="3199" y="1274005"/>
                    <a:pt x="0" y="1266282"/>
                    <a:pt x="0" y="1258228"/>
                  </a:cubicBezTo>
                  <a:lnTo>
                    <a:pt x="0" y="30365"/>
                  </a:lnTo>
                  <a:cubicBezTo>
                    <a:pt x="0" y="13595"/>
                    <a:pt x="13595" y="0"/>
                    <a:pt x="30365" y="0"/>
                  </a:cubicBez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424633" cy="13266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176604" y="3591906"/>
            <a:ext cx="11934792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Gas plants generate electricity by burning natural gas to produce heat, which turns water into steam. The steam drives a turbine connected to a generator. Key components include: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82225" y="4754264"/>
            <a:ext cx="10723550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Boilers</a:t>
            </a:r>
          </a:p>
          <a:p>
            <a:pPr marL="518157" lvl="1" indent="-259078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Cooling towers</a:t>
            </a:r>
          </a:p>
          <a:p>
            <a:pPr marL="518157" lvl="1" indent="-259078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Extensive fuel supply chains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82310" y="6335722"/>
            <a:ext cx="11323379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Gas plants require continuous fuel input and emit carbon dioxide, contributing to climate change, with higher operational costs compared to wind energy.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365324" y="-28575"/>
            <a:ext cx="922676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774273" y="7983456"/>
            <a:ext cx="952667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[1,2]</a:t>
            </a:r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7999254"/>
            <a:chOff x="0" y="0"/>
            <a:chExt cx="4274726" cy="2106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06799"/>
            </a:xfrm>
            <a:custGeom>
              <a:avLst/>
              <a:gdLst/>
              <a:ahLst/>
              <a:cxnLst/>
              <a:rect l="l" t="t" r="r" b="b"/>
              <a:pathLst>
                <a:path w="4274726" h="2106799">
                  <a:moveTo>
                    <a:pt x="0" y="0"/>
                  </a:moveTo>
                  <a:lnTo>
                    <a:pt x="4274726" y="0"/>
                  </a:lnTo>
                  <a:lnTo>
                    <a:pt x="4274726" y="2106799"/>
                  </a:lnTo>
                  <a:lnTo>
                    <a:pt x="0" y="2106799"/>
                  </a:lnTo>
                  <a:close/>
                </a:path>
              </a:pathLst>
            </a:custGeom>
            <a:solidFill>
              <a:srgbClr val="FFFFFF"/>
            </a:solidFill>
            <a:ln w="304800" cap="sq">
              <a:solidFill>
                <a:srgbClr val="FEF5D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144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456152" y="9139751"/>
            <a:ext cx="3831848" cy="98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PRESENTED BY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YE HTET KYAW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27929" y="3930001"/>
            <a:ext cx="6032142" cy="1910903"/>
            <a:chOff x="0" y="0"/>
            <a:chExt cx="1588712" cy="5032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88712" cy="503283"/>
            </a:xfrm>
            <a:custGeom>
              <a:avLst/>
              <a:gdLst/>
              <a:ahLst/>
              <a:cxnLst/>
              <a:rect l="l" t="t" r="r" b="b"/>
              <a:pathLst>
                <a:path w="1588712" h="503283">
                  <a:moveTo>
                    <a:pt x="65456" y="0"/>
                  </a:moveTo>
                  <a:lnTo>
                    <a:pt x="1523257" y="0"/>
                  </a:lnTo>
                  <a:cubicBezTo>
                    <a:pt x="1559407" y="0"/>
                    <a:pt x="1588712" y="29306"/>
                    <a:pt x="1588712" y="65456"/>
                  </a:cubicBezTo>
                  <a:lnTo>
                    <a:pt x="1588712" y="437827"/>
                  </a:lnTo>
                  <a:cubicBezTo>
                    <a:pt x="1588712" y="473978"/>
                    <a:pt x="1559407" y="503283"/>
                    <a:pt x="1523257" y="503283"/>
                  </a:cubicBezTo>
                  <a:lnTo>
                    <a:pt x="65456" y="503283"/>
                  </a:lnTo>
                  <a:cubicBezTo>
                    <a:pt x="29306" y="503283"/>
                    <a:pt x="0" y="473978"/>
                    <a:pt x="0" y="437827"/>
                  </a:cubicBezTo>
                  <a:lnTo>
                    <a:pt x="0" y="65456"/>
                  </a:lnTo>
                  <a:cubicBezTo>
                    <a:pt x="0" y="29306"/>
                    <a:pt x="29306" y="0"/>
                    <a:pt x="65456" y="0"/>
                  </a:cubicBezTo>
                  <a:close/>
                </a:path>
              </a:pathLst>
            </a:custGeom>
            <a:solidFill>
              <a:srgbClr val="01845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85725"/>
              <a:ext cx="1588712" cy="589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FFFFFF"/>
                  </a:solidFill>
                  <a:latin typeface="March Rough"/>
                  <a:ea typeface="March Rough"/>
                  <a:cs typeface="March Rough"/>
                  <a:sym typeface="March Rough"/>
                </a:rPr>
                <a:t>Maintainenace Cost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84879" y="2085102"/>
            <a:ext cx="3086100" cy="1543050"/>
            <a:chOff x="0" y="0"/>
            <a:chExt cx="81280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52400" y="-38100"/>
              <a:ext cx="508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Routine Maintenance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617021" y="2085102"/>
            <a:ext cx="3086100" cy="1543050"/>
            <a:chOff x="0" y="0"/>
            <a:chExt cx="812800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52400" y="-38100"/>
              <a:ext cx="508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Parts and Material Costs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70979" y="1313577"/>
            <a:ext cx="3086100" cy="1543050"/>
            <a:chOff x="0" y="0"/>
            <a:chExt cx="812800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52400" y="-38100"/>
              <a:ext cx="508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Preventive Maintenance 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703121" y="4113927"/>
            <a:ext cx="3086100" cy="1543050"/>
            <a:chOff x="0" y="0"/>
            <a:chExt cx="812800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52400" y="-38100"/>
              <a:ext cx="508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Emergency Repairs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98779" y="4113927"/>
            <a:ext cx="3086100" cy="1543050"/>
            <a:chOff x="0" y="0"/>
            <a:chExt cx="812800" cy="406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52400" y="-38100"/>
              <a:ext cx="508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Corrective Maintenance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84879" y="6428502"/>
            <a:ext cx="3086100" cy="1543050"/>
            <a:chOff x="0" y="0"/>
            <a:chExt cx="812800" cy="406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152400" y="-38100"/>
              <a:ext cx="508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Labor Costs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617021" y="6428502"/>
            <a:ext cx="3086100" cy="1543050"/>
            <a:chOff x="0" y="0"/>
            <a:chExt cx="812800" cy="406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52400" y="-38100"/>
              <a:ext cx="508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Administrative Expenses 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70979" y="7200027"/>
            <a:ext cx="3086100" cy="1543050"/>
            <a:chOff x="0" y="0"/>
            <a:chExt cx="812800" cy="406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52400" y="-38100"/>
              <a:ext cx="508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Miscellaneous Costs 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7365324" y="-28575"/>
            <a:ext cx="922676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045700" y="7942977"/>
            <a:ext cx="652752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[3]</a:t>
            </a:r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7999254"/>
            <a:chOff x="0" y="0"/>
            <a:chExt cx="4274726" cy="2106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06799"/>
            </a:xfrm>
            <a:custGeom>
              <a:avLst/>
              <a:gdLst/>
              <a:ahLst/>
              <a:cxnLst/>
              <a:rect l="l" t="t" r="r" b="b"/>
              <a:pathLst>
                <a:path w="4274726" h="2106799">
                  <a:moveTo>
                    <a:pt x="0" y="0"/>
                  </a:moveTo>
                  <a:lnTo>
                    <a:pt x="4274726" y="0"/>
                  </a:lnTo>
                  <a:lnTo>
                    <a:pt x="4274726" y="2106799"/>
                  </a:lnTo>
                  <a:lnTo>
                    <a:pt x="0" y="2106799"/>
                  </a:lnTo>
                  <a:close/>
                </a:path>
              </a:pathLst>
            </a:custGeom>
            <a:solidFill>
              <a:srgbClr val="FFFFFF"/>
            </a:solidFill>
            <a:ln w="304800" cap="sq">
              <a:solidFill>
                <a:srgbClr val="FEF5D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144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127929" y="3930001"/>
            <a:ext cx="6032142" cy="1910903"/>
            <a:chOff x="0" y="0"/>
            <a:chExt cx="1588712" cy="503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88712" cy="503283"/>
            </a:xfrm>
            <a:custGeom>
              <a:avLst/>
              <a:gdLst/>
              <a:ahLst/>
              <a:cxnLst/>
              <a:rect l="l" t="t" r="r" b="b"/>
              <a:pathLst>
                <a:path w="1588712" h="503283">
                  <a:moveTo>
                    <a:pt x="65456" y="0"/>
                  </a:moveTo>
                  <a:lnTo>
                    <a:pt x="1523257" y="0"/>
                  </a:lnTo>
                  <a:cubicBezTo>
                    <a:pt x="1559407" y="0"/>
                    <a:pt x="1588712" y="29306"/>
                    <a:pt x="1588712" y="65456"/>
                  </a:cubicBezTo>
                  <a:lnTo>
                    <a:pt x="1588712" y="437827"/>
                  </a:lnTo>
                  <a:cubicBezTo>
                    <a:pt x="1588712" y="473978"/>
                    <a:pt x="1559407" y="503283"/>
                    <a:pt x="1523257" y="503283"/>
                  </a:cubicBezTo>
                  <a:lnTo>
                    <a:pt x="65456" y="503283"/>
                  </a:lnTo>
                  <a:cubicBezTo>
                    <a:pt x="29306" y="503283"/>
                    <a:pt x="0" y="473978"/>
                    <a:pt x="0" y="437827"/>
                  </a:cubicBezTo>
                  <a:lnTo>
                    <a:pt x="0" y="65456"/>
                  </a:lnTo>
                  <a:cubicBezTo>
                    <a:pt x="0" y="29306"/>
                    <a:pt x="29306" y="0"/>
                    <a:pt x="65456" y="0"/>
                  </a:cubicBezTo>
                  <a:close/>
                </a:path>
              </a:pathLst>
            </a:custGeom>
            <a:solidFill>
              <a:srgbClr val="0184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1588712" cy="589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FFFFFF"/>
                  </a:solidFill>
                  <a:latin typeface="March Rough"/>
                  <a:ea typeface="March Rough"/>
                  <a:cs typeface="March Rough"/>
                  <a:sym typeface="March Rough"/>
                </a:rPr>
                <a:t>Operational Cost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84879" y="2085102"/>
            <a:ext cx="3086100" cy="1543050"/>
            <a:chOff x="0" y="0"/>
            <a:chExt cx="81280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52400" y="-38100"/>
              <a:ext cx="508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Fuel Cost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17021" y="2085102"/>
            <a:ext cx="3086100" cy="1543050"/>
            <a:chOff x="0" y="0"/>
            <a:chExt cx="812800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52400" y="-38100"/>
              <a:ext cx="508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Insurance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70979" y="1313577"/>
            <a:ext cx="3086100" cy="1543050"/>
            <a:chOff x="0" y="0"/>
            <a:chExt cx="81280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52400" y="-38100"/>
              <a:ext cx="508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Regulatory Compliance 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703121" y="4113927"/>
            <a:ext cx="3086100" cy="1543050"/>
            <a:chOff x="0" y="0"/>
            <a:chExt cx="812800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52400" y="-38100"/>
              <a:ext cx="508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Grid connection and transmission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98779" y="4113927"/>
            <a:ext cx="3086100" cy="1543050"/>
            <a:chOff x="0" y="0"/>
            <a:chExt cx="812800" cy="406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52400" y="-38100"/>
              <a:ext cx="508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Logistics and Transportation 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84879" y="6428502"/>
            <a:ext cx="3086100" cy="1543050"/>
            <a:chOff x="0" y="0"/>
            <a:chExt cx="812800" cy="406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52400" y="-38100"/>
              <a:ext cx="508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Labor Costs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617021" y="6428502"/>
            <a:ext cx="3086100" cy="1543050"/>
            <a:chOff x="0" y="0"/>
            <a:chExt cx="812800" cy="406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152400" y="-38100"/>
              <a:ext cx="508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Administrative Expenses 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70979" y="7200027"/>
            <a:ext cx="3086100" cy="1543050"/>
            <a:chOff x="0" y="0"/>
            <a:chExt cx="812800" cy="406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152400" y="-38100"/>
              <a:ext cx="508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Miscellaneous Costs 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4456152" y="9139751"/>
            <a:ext cx="3831848" cy="98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PRESENTED BY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YE HTET KYAW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365324" y="-28575"/>
            <a:ext cx="922676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8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045700" y="7942977"/>
            <a:ext cx="652752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[3]</a:t>
            </a:r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7999254"/>
            <a:chOff x="0" y="0"/>
            <a:chExt cx="4274726" cy="2106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06799"/>
            </a:xfrm>
            <a:custGeom>
              <a:avLst/>
              <a:gdLst/>
              <a:ahLst/>
              <a:cxnLst/>
              <a:rect l="l" t="t" r="r" b="b"/>
              <a:pathLst>
                <a:path w="4274726" h="2106799">
                  <a:moveTo>
                    <a:pt x="0" y="0"/>
                  </a:moveTo>
                  <a:lnTo>
                    <a:pt x="4274726" y="0"/>
                  </a:lnTo>
                  <a:lnTo>
                    <a:pt x="4274726" y="2106799"/>
                  </a:lnTo>
                  <a:lnTo>
                    <a:pt x="0" y="2106799"/>
                  </a:lnTo>
                  <a:close/>
                </a:path>
              </a:pathLst>
            </a:custGeom>
            <a:solidFill>
              <a:srgbClr val="FFFFFF"/>
            </a:solidFill>
            <a:ln w="304800" cap="sq">
              <a:solidFill>
                <a:srgbClr val="FEF5D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144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191038"/>
              </p:ext>
            </p:extLst>
          </p:nvPr>
        </p:nvGraphicFramePr>
        <p:xfrm>
          <a:off x="8985077" y="5433697"/>
          <a:ext cx="7585124" cy="2748832"/>
        </p:xfrm>
        <a:graphic>
          <a:graphicData uri="http://schemas.openxmlformats.org/drawingml/2006/table">
            <a:tbl>
              <a:tblPr/>
              <a:tblGrid>
                <a:gridCol w="3846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9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0277">
                <a:tc gridSpan="2"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548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Gas-Powered TPP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Wind Power Plant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072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8760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4380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719080" y="5433697"/>
          <a:ext cx="6808736" cy="2748833"/>
        </p:xfrm>
        <a:graphic>
          <a:graphicData uri="http://schemas.openxmlformats.org/drawingml/2006/table">
            <a:tbl>
              <a:tblPr/>
              <a:tblGrid>
                <a:gridCol w="1930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9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02442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Installed Capacity (MW)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Capacity Factor 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(Gas TPP)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endParaRPr lang="en-US" sz="1899">
                        <a:solidFill>
                          <a:srgbClr val="000000"/>
                        </a:solidFill>
                        <a:latin typeface="Aileron"/>
                        <a:ea typeface="Aileron"/>
                        <a:cs typeface="Aileron"/>
                        <a:sym typeface="Aileron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Capacity Factor 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(Wind PP)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endParaRPr lang="en-US" sz="1899">
                        <a:solidFill>
                          <a:srgbClr val="000000"/>
                        </a:solidFill>
                        <a:latin typeface="Aileron"/>
                        <a:ea typeface="Aileron"/>
                        <a:cs typeface="Aileron"/>
                        <a:sym typeface="Aileron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6391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0.50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0.25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877099" y="1402603"/>
            <a:ext cx="14849841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March Rough"/>
                <a:ea typeface="March Rough"/>
                <a:cs typeface="March Rough"/>
                <a:sym typeface="March Rough"/>
              </a:rPr>
              <a:t>Calculating the Total Energy Production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77099" y="2680359"/>
            <a:ext cx="14849841" cy="984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5"/>
              </a:lnSpc>
              <a:spcBef>
                <a:spcPct val="0"/>
              </a:spcBef>
            </a:pPr>
            <a:r>
              <a:rPr lang="en-US" sz="28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will use the following formula to calculate the total electricity produced in both types of power plants over a time period of 20 years.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9080" y="3948482"/>
            <a:ext cx="5447516" cy="1608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30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Total Energy Production over 20 Years</a:t>
            </a:r>
          </a:p>
          <a:p>
            <a:pPr algn="ctr">
              <a:lnSpc>
                <a:spcPts val="4275"/>
              </a:lnSpc>
              <a:spcBef>
                <a:spcPct val="0"/>
              </a:spcBef>
            </a:pPr>
            <a:endParaRPr lang="en-US" sz="3053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722941" y="3987267"/>
            <a:ext cx="14849841" cy="106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30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Installed Capacity × 8760 hours/year</a:t>
            </a:r>
          </a:p>
          <a:p>
            <a:pPr algn="ctr">
              <a:lnSpc>
                <a:spcPts val="4275"/>
              </a:lnSpc>
              <a:spcBef>
                <a:spcPct val="0"/>
              </a:spcBef>
            </a:pPr>
            <a:r>
              <a:rPr lang="en-US" sz="30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× Capacity Factor × 20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61625" y="4491407"/>
            <a:ext cx="2583330" cy="522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5"/>
              </a:lnSpc>
              <a:spcBef>
                <a:spcPct val="0"/>
              </a:spcBef>
            </a:pPr>
            <a:r>
              <a:rPr lang="en-US" sz="30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=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88320" y="5794131"/>
            <a:ext cx="7681880" cy="47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5"/>
              </a:lnSpc>
              <a:spcBef>
                <a:spcPct val="0"/>
              </a:spcBef>
            </a:pPr>
            <a:r>
              <a:rPr lang="en-US" sz="28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Annual Energy Production (MWh)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72001" y="9119158"/>
            <a:ext cx="6815999" cy="98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PRESENTED BY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MD ASIFUR RAHMAN SAIKOT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85077" y="8220467"/>
            <a:ext cx="7585123" cy="331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61"/>
              </a:lnSpc>
            </a:pPr>
            <a:r>
              <a:rPr lang="en-US" sz="2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TABLE-2: ANNUAL ENERGY PRODUCTION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19080" y="8220467"/>
            <a:ext cx="6808736" cy="331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61"/>
              </a:lnSpc>
            </a:pPr>
            <a:r>
              <a:rPr lang="en-US" sz="2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TABLE-1: POWER PLANT SPECIFICS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365324" y="-28575"/>
            <a:ext cx="922676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9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204448" y="8291191"/>
            <a:ext cx="1762423" cy="49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2"/>
              </a:lnSpc>
            </a:pPr>
            <a:r>
              <a:rPr lang="en-US" sz="3080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[4,5,6,7]</a:t>
            </a:r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7999254"/>
            <a:chOff x="0" y="0"/>
            <a:chExt cx="4274726" cy="2106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06799"/>
            </a:xfrm>
            <a:custGeom>
              <a:avLst/>
              <a:gdLst/>
              <a:ahLst/>
              <a:cxnLst/>
              <a:rect l="l" t="t" r="r" b="b"/>
              <a:pathLst>
                <a:path w="4274726" h="2106799">
                  <a:moveTo>
                    <a:pt x="0" y="0"/>
                  </a:moveTo>
                  <a:lnTo>
                    <a:pt x="4274726" y="0"/>
                  </a:lnTo>
                  <a:lnTo>
                    <a:pt x="4274726" y="2106799"/>
                  </a:lnTo>
                  <a:lnTo>
                    <a:pt x="0" y="2106799"/>
                  </a:lnTo>
                  <a:close/>
                </a:path>
              </a:pathLst>
            </a:custGeom>
            <a:solidFill>
              <a:srgbClr val="FFFFFF"/>
            </a:solidFill>
            <a:ln w="304800" cap="sq">
              <a:solidFill>
                <a:srgbClr val="FEF5D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144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642549" y="4115098"/>
            <a:ext cx="13002902" cy="1028402"/>
            <a:chOff x="0" y="0"/>
            <a:chExt cx="3424633" cy="2708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24632" cy="270855"/>
            </a:xfrm>
            <a:custGeom>
              <a:avLst/>
              <a:gdLst/>
              <a:ahLst/>
              <a:cxnLst/>
              <a:rect l="l" t="t" r="r" b="b"/>
              <a:pathLst>
                <a:path w="3424632" h="270855">
                  <a:moveTo>
                    <a:pt x="30365" y="0"/>
                  </a:moveTo>
                  <a:lnTo>
                    <a:pt x="3394267" y="0"/>
                  </a:lnTo>
                  <a:cubicBezTo>
                    <a:pt x="3411038" y="0"/>
                    <a:pt x="3424632" y="13595"/>
                    <a:pt x="3424632" y="30365"/>
                  </a:cubicBezTo>
                  <a:lnTo>
                    <a:pt x="3424632" y="240490"/>
                  </a:lnTo>
                  <a:cubicBezTo>
                    <a:pt x="3424632" y="257260"/>
                    <a:pt x="3411038" y="270855"/>
                    <a:pt x="3394267" y="270855"/>
                  </a:cubicBezTo>
                  <a:lnTo>
                    <a:pt x="30365" y="270855"/>
                  </a:lnTo>
                  <a:cubicBezTo>
                    <a:pt x="22312" y="270855"/>
                    <a:pt x="14588" y="267656"/>
                    <a:pt x="8894" y="261961"/>
                  </a:cubicBezTo>
                  <a:cubicBezTo>
                    <a:pt x="3199" y="256267"/>
                    <a:pt x="0" y="248543"/>
                    <a:pt x="0" y="240490"/>
                  </a:cubicBezTo>
                  <a:lnTo>
                    <a:pt x="0" y="30365"/>
                  </a:lnTo>
                  <a:cubicBezTo>
                    <a:pt x="0" y="13595"/>
                    <a:pt x="13595" y="0"/>
                    <a:pt x="30365" y="0"/>
                  </a:cubicBez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424633" cy="308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i="1">
                  <a:solidFill>
                    <a:srgbClr val="FFFFFF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Annual Cost = Fuel cost + O&amp;M cost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7099" y="1402603"/>
            <a:ext cx="14849841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March Rough"/>
                <a:ea typeface="March Rough"/>
                <a:cs typeface="March Rough"/>
                <a:sym typeface="March Rough"/>
              </a:rPr>
              <a:t>Calculating Total Cost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7099" y="2680359"/>
            <a:ext cx="14849841" cy="984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5"/>
              </a:lnSpc>
              <a:spcBef>
                <a:spcPct val="0"/>
              </a:spcBef>
            </a:pPr>
            <a:r>
              <a:rPr lang="en-US" sz="28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will use the following formula to calculate the total in both types of power plants over a time period of 20 years.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72001" y="9119158"/>
            <a:ext cx="6815999" cy="98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PRESENTED BY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MD ASIFUR RAHMAN SAIKOT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642235" y="5591175"/>
            <a:ext cx="13002902" cy="1028402"/>
            <a:chOff x="0" y="0"/>
            <a:chExt cx="3424633" cy="2708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424632" cy="270855"/>
            </a:xfrm>
            <a:custGeom>
              <a:avLst/>
              <a:gdLst/>
              <a:ahLst/>
              <a:cxnLst/>
              <a:rect l="l" t="t" r="r" b="b"/>
              <a:pathLst>
                <a:path w="3424632" h="270855">
                  <a:moveTo>
                    <a:pt x="30365" y="0"/>
                  </a:moveTo>
                  <a:lnTo>
                    <a:pt x="3394267" y="0"/>
                  </a:lnTo>
                  <a:cubicBezTo>
                    <a:pt x="3411038" y="0"/>
                    <a:pt x="3424632" y="13595"/>
                    <a:pt x="3424632" y="30365"/>
                  </a:cubicBezTo>
                  <a:lnTo>
                    <a:pt x="3424632" y="240490"/>
                  </a:lnTo>
                  <a:cubicBezTo>
                    <a:pt x="3424632" y="257260"/>
                    <a:pt x="3411038" y="270855"/>
                    <a:pt x="3394267" y="270855"/>
                  </a:cubicBezTo>
                  <a:lnTo>
                    <a:pt x="30365" y="270855"/>
                  </a:lnTo>
                  <a:cubicBezTo>
                    <a:pt x="22312" y="270855"/>
                    <a:pt x="14588" y="267656"/>
                    <a:pt x="8894" y="261961"/>
                  </a:cubicBezTo>
                  <a:cubicBezTo>
                    <a:pt x="3199" y="256267"/>
                    <a:pt x="0" y="248543"/>
                    <a:pt x="0" y="240490"/>
                  </a:cubicBezTo>
                  <a:lnTo>
                    <a:pt x="0" y="30365"/>
                  </a:lnTo>
                  <a:cubicBezTo>
                    <a:pt x="0" y="13595"/>
                    <a:pt x="13595" y="0"/>
                    <a:pt x="30365" y="0"/>
                  </a:cubicBez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424633" cy="308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i="1">
                  <a:solidFill>
                    <a:srgbClr val="FFFFFF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Total Cost over 20 Years = Capital Cost + Annual Cost × 20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642235" y="7067252"/>
            <a:ext cx="13002902" cy="1028402"/>
            <a:chOff x="0" y="0"/>
            <a:chExt cx="3424633" cy="27085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24632" cy="270855"/>
            </a:xfrm>
            <a:custGeom>
              <a:avLst/>
              <a:gdLst/>
              <a:ahLst/>
              <a:cxnLst/>
              <a:rect l="l" t="t" r="r" b="b"/>
              <a:pathLst>
                <a:path w="3424632" h="270855">
                  <a:moveTo>
                    <a:pt x="30365" y="0"/>
                  </a:moveTo>
                  <a:lnTo>
                    <a:pt x="3394267" y="0"/>
                  </a:lnTo>
                  <a:cubicBezTo>
                    <a:pt x="3411038" y="0"/>
                    <a:pt x="3424632" y="13595"/>
                    <a:pt x="3424632" y="30365"/>
                  </a:cubicBezTo>
                  <a:lnTo>
                    <a:pt x="3424632" y="240490"/>
                  </a:lnTo>
                  <a:cubicBezTo>
                    <a:pt x="3424632" y="257260"/>
                    <a:pt x="3411038" y="270855"/>
                    <a:pt x="3394267" y="270855"/>
                  </a:cubicBezTo>
                  <a:lnTo>
                    <a:pt x="30365" y="270855"/>
                  </a:lnTo>
                  <a:cubicBezTo>
                    <a:pt x="22312" y="270855"/>
                    <a:pt x="14588" y="267656"/>
                    <a:pt x="8894" y="261961"/>
                  </a:cubicBezTo>
                  <a:cubicBezTo>
                    <a:pt x="3199" y="256267"/>
                    <a:pt x="0" y="248543"/>
                    <a:pt x="0" y="240490"/>
                  </a:cubicBezTo>
                  <a:lnTo>
                    <a:pt x="0" y="30365"/>
                  </a:lnTo>
                  <a:cubicBezTo>
                    <a:pt x="0" y="13595"/>
                    <a:pt x="13595" y="0"/>
                    <a:pt x="30365" y="0"/>
                  </a:cubicBez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424633" cy="308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i="1">
                  <a:solidFill>
                    <a:srgbClr val="FFFFFF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Per kWh Price = (Total Cost over 20 Years) / (Total Energy Production over 20 Years)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7365324" y="-28575"/>
            <a:ext cx="922676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10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230909" y="8185361"/>
            <a:ext cx="1762423" cy="49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42"/>
              </a:lnSpc>
              <a:spcBef>
                <a:spcPct val="0"/>
              </a:spcBef>
            </a:pPr>
            <a:r>
              <a:rPr lang="en-US" sz="3080" b="1" u="none" strike="noStrike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[4,5,6,7]</a:t>
            </a:r>
          </a:p>
        </p:txBody>
      </p: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7999254"/>
            <a:chOff x="0" y="0"/>
            <a:chExt cx="4274726" cy="2106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06799"/>
            </a:xfrm>
            <a:custGeom>
              <a:avLst/>
              <a:gdLst/>
              <a:ahLst/>
              <a:cxnLst/>
              <a:rect l="l" t="t" r="r" b="b"/>
              <a:pathLst>
                <a:path w="4274726" h="2106799">
                  <a:moveTo>
                    <a:pt x="0" y="0"/>
                  </a:moveTo>
                  <a:lnTo>
                    <a:pt x="4274726" y="0"/>
                  </a:lnTo>
                  <a:lnTo>
                    <a:pt x="4274726" y="2106799"/>
                  </a:lnTo>
                  <a:lnTo>
                    <a:pt x="0" y="2106799"/>
                  </a:lnTo>
                  <a:close/>
                </a:path>
              </a:pathLst>
            </a:custGeom>
            <a:solidFill>
              <a:srgbClr val="FFFFFF"/>
            </a:solidFill>
            <a:ln w="304800" cap="sq">
              <a:solidFill>
                <a:srgbClr val="FEF5D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144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77099" y="1402603"/>
            <a:ext cx="14849841" cy="2237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March Rough"/>
                <a:ea typeface="March Rough"/>
                <a:cs typeface="March Rough"/>
                <a:sym typeface="March Rough"/>
              </a:rPr>
              <a:t>Calculating Total Cost &amp; price/kWh (Wind Power Plants)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72001" y="9119158"/>
            <a:ext cx="6815999" cy="98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PRESENTED BY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MD ASIFUR RAHMAN SAIKOT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691539" y="4164431"/>
            <a:ext cx="13002902" cy="3847600"/>
            <a:chOff x="0" y="0"/>
            <a:chExt cx="3424633" cy="10133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24632" cy="1013360"/>
            </a:xfrm>
            <a:custGeom>
              <a:avLst/>
              <a:gdLst/>
              <a:ahLst/>
              <a:cxnLst/>
              <a:rect l="l" t="t" r="r" b="b"/>
              <a:pathLst>
                <a:path w="3424632" h="1013360">
                  <a:moveTo>
                    <a:pt x="30365" y="0"/>
                  </a:moveTo>
                  <a:lnTo>
                    <a:pt x="3394267" y="0"/>
                  </a:lnTo>
                  <a:cubicBezTo>
                    <a:pt x="3411038" y="0"/>
                    <a:pt x="3424632" y="13595"/>
                    <a:pt x="3424632" y="30365"/>
                  </a:cubicBezTo>
                  <a:lnTo>
                    <a:pt x="3424632" y="982994"/>
                  </a:lnTo>
                  <a:cubicBezTo>
                    <a:pt x="3424632" y="991048"/>
                    <a:pt x="3421433" y="998771"/>
                    <a:pt x="3415739" y="1004466"/>
                  </a:cubicBezTo>
                  <a:cubicBezTo>
                    <a:pt x="3410044" y="1010161"/>
                    <a:pt x="3402321" y="1013360"/>
                    <a:pt x="3394267" y="1013360"/>
                  </a:cubicBezTo>
                  <a:lnTo>
                    <a:pt x="30365" y="1013360"/>
                  </a:lnTo>
                  <a:cubicBezTo>
                    <a:pt x="13595" y="1013360"/>
                    <a:pt x="0" y="999765"/>
                    <a:pt x="0" y="982994"/>
                  </a:cubicBezTo>
                  <a:lnTo>
                    <a:pt x="0" y="30365"/>
                  </a:lnTo>
                  <a:cubicBezTo>
                    <a:pt x="0" y="13595"/>
                    <a:pt x="13595" y="0"/>
                    <a:pt x="30365" y="0"/>
                  </a:cubicBez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424633" cy="1051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169196" y="4355032"/>
            <a:ext cx="7334514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Installed Capacity = 2MW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Capital Cost = 1.350.000€/MW (average)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5F8F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544825" y="4355032"/>
            <a:ext cx="7182114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Annual O&amp;M cost = 394.200€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Annual Fuel Cost = 0€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5F8F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052803" y="5136082"/>
            <a:ext cx="7874361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TIme Period = 20 years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80608" y="5761490"/>
            <a:ext cx="1072355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Total Cost =  2700000 + (394.200 + 0) * 20 = 10.584.000€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80608" y="6386899"/>
            <a:ext cx="1132337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Price/kWh = Total Cost/Total energy production 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5F8F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249543" y="7020061"/>
            <a:ext cx="1132337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= 10.584.000/(4380*1000*20) = 0,12€/kWh 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5F8F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365324" y="-28575"/>
            <a:ext cx="922676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11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263343" y="8204953"/>
            <a:ext cx="1762423" cy="49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42"/>
              </a:lnSpc>
              <a:spcBef>
                <a:spcPct val="0"/>
              </a:spcBef>
            </a:pPr>
            <a:r>
              <a:rPr lang="en-US" sz="3080" b="1" u="none" strike="noStrike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[4,5,6,7]</a:t>
            </a:r>
          </a:p>
        </p:txBody>
      </p:sp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7999254"/>
            <a:chOff x="0" y="0"/>
            <a:chExt cx="4274726" cy="2106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06799"/>
            </a:xfrm>
            <a:custGeom>
              <a:avLst/>
              <a:gdLst/>
              <a:ahLst/>
              <a:cxnLst/>
              <a:rect l="l" t="t" r="r" b="b"/>
              <a:pathLst>
                <a:path w="4274726" h="2106799">
                  <a:moveTo>
                    <a:pt x="0" y="0"/>
                  </a:moveTo>
                  <a:lnTo>
                    <a:pt x="4274726" y="0"/>
                  </a:lnTo>
                  <a:lnTo>
                    <a:pt x="4274726" y="2106799"/>
                  </a:lnTo>
                  <a:lnTo>
                    <a:pt x="0" y="2106799"/>
                  </a:lnTo>
                  <a:close/>
                </a:path>
              </a:pathLst>
            </a:custGeom>
            <a:solidFill>
              <a:srgbClr val="FFFFFF"/>
            </a:solidFill>
            <a:ln w="304800" cap="sq">
              <a:solidFill>
                <a:srgbClr val="FEF5D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144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77099" y="1402603"/>
            <a:ext cx="14849841" cy="2237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March Rough"/>
                <a:ea typeface="March Rough"/>
                <a:cs typeface="March Rough"/>
                <a:sym typeface="March Rough"/>
              </a:rPr>
              <a:t>Calculating Total Cost &amp; price/kWh </a:t>
            </a:r>
          </a:p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March Rough"/>
                <a:ea typeface="March Rough"/>
                <a:cs typeface="March Rough"/>
                <a:sym typeface="March Rough"/>
              </a:rPr>
              <a:t>(Gas-Powered TPP)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72001" y="9119158"/>
            <a:ext cx="6815999" cy="98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PRESENTED BY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MD ASIFUR RAHMAN SAIKOT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691539" y="4164431"/>
            <a:ext cx="13002902" cy="3847600"/>
            <a:chOff x="0" y="0"/>
            <a:chExt cx="3424633" cy="10133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24632" cy="1013360"/>
            </a:xfrm>
            <a:custGeom>
              <a:avLst/>
              <a:gdLst/>
              <a:ahLst/>
              <a:cxnLst/>
              <a:rect l="l" t="t" r="r" b="b"/>
              <a:pathLst>
                <a:path w="3424632" h="1013360">
                  <a:moveTo>
                    <a:pt x="30365" y="0"/>
                  </a:moveTo>
                  <a:lnTo>
                    <a:pt x="3394267" y="0"/>
                  </a:lnTo>
                  <a:cubicBezTo>
                    <a:pt x="3411038" y="0"/>
                    <a:pt x="3424632" y="13595"/>
                    <a:pt x="3424632" y="30365"/>
                  </a:cubicBezTo>
                  <a:lnTo>
                    <a:pt x="3424632" y="982994"/>
                  </a:lnTo>
                  <a:cubicBezTo>
                    <a:pt x="3424632" y="991048"/>
                    <a:pt x="3421433" y="998771"/>
                    <a:pt x="3415739" y="1004466"/>
                  </a:cubicBezTo>
                  <a:cubicBezTo>
                    <a:pt x="3410044" y="1010161"/>
                    <a:pt x="3402321" y="1013360"/>
                    <a:pt x="3394267" y="1013360"/>
                  </a:cubicBezTo>
                  <a:lnTo>
                    <a:pt x="30365" y="1013360"/>
                  </a:lnTo>
                  <a:cubicBezTo>
                    <a:pt x="13595" y="1013360"/>
                    <a:pt x="0" y="999765"/>
                    <a:pt x="0" y="982994"/>
                  </a:cubicBezTo>
                  <a:lnTo>
                    <a:pt x="0" y="30365"/>
                  </a:lnTo>
                  <a:cubicBezTo>
                    <a:pt x="0" y="13595"/>
                    <a:pt x="13595" y="0"/>
                    <a:pt x="30365" y="0"/>
                  </a:cubicBezTo>
                  <a:close/>
                </a:path>
              </a:pathLst>
            </a:custGeom>
            <a:solidFill>
              <a:srgbClr val="14B33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424633" cy="1051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169196" y="4355032"/>
            <a:ext cx="7334514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Installed Capacity = 2MW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Capital Cost = 1.350.000€/MW (average)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5F8F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544825" y="4355032"/>
            <a:ext cx="7182114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Annual O&amp;M cost = 45.000€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Annual Fuel Cost = 613.200€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5F8F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052803" y="5136082"/>
            <a:ext cx="7874361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TIme Period = 20 years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80608" y="5761490"/>
            <a:ext cx="1072355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Total Cost =  2700000 + (45000 + 613200) * 20 = 15.862.200€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80608" y="6386899"/>
            <a:ext cx="1132337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Price/kWh = Total Cost/Total energy production 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5F8F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249543" y="7020061"/>
            <a:ext cx="1132337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= 15.862.200/(8760 * 1000 * 20) = 0,09€/kWh 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5F8F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365324" y="-28575"/>
            <a:ext cx="922676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12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220798" y="8204953"/>
            <a:ext cx="1762423" cy="49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42"/>
              </a:lnSpc>
              <a:spcBef>
                <a:spcPct val="0"/>
              </a:spcBef>
            </a:pPr>
            <a:r>
              <a:rPr lang="en-US" sz="3080" b="1" u="none" strike="noStrike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[4,5,6,7]</a:t>
            </a:r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7999254"/>
            <a:chOff x="0" y="0"/>
            <a:chExt cx="4274726" cy="2106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06799"/>
            </a:xfrm>
            <a:custGeom>
              <a:avLst/>
              <a:gdLst/>
              <a:ahLst/>
              <a:cxnLst/>
              <a:rect l="l" t="t" r="r" b="b"/>
              <a:pathLst>
                <a:path w="4274726" h="2106799">
                  <a:moveTo>
                    <a:pt x="0" y="0"/>
                  </a:moveTo>
                  <a:lnTo>
                    <a:pt x="4274726" y="0"/>
                  </a:lnTo>
                  <a:lnTo>
                    <a:pt x="4274726" y="2106799"/>
                  </a:lnTo>
                  <a:lnTo>
                    <a:pt x="0" y="2106799"/>
                  </a:lnTo>
                  <a:close/>
                </a:path>
              </a:pathLst>
            </a:custGeom>
            <a:solidFill>
              <a:srgbClr val="FFFFFF"/>
            </a:solidFill>
            <a:ln w="304800" cap="sq">
              <a:solidFill>
                <a:srgbClr val="FEF5D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144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19080" y="1248570"/>
            <a:ext cx="14849841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March Rough"/>
                <a:ea typeface="March Rough"/>
                <a:cs typeface="March Rough"/>
                <a:sym typeface="March Rough"/>
              </a:rPr>
              <a:t>Graphical Illustration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72001" y="9119158"/>
            <a:ext cx="6815999" cy="98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PRESENTED BY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MD ASIFUR RAHMAN SAIKOT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69196" y="4355032"/>
            <a:ext cx="7334514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Installed Capacity = 2MW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Capital Cost = 1.350.000€/MW (average)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5F8F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544825" y="4355032"/>
            <a:ext cx="7182114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Annual O&amp;M cost = 45.000€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Annual Fuel Cost = 613.200€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5F8F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052803" y="5136082"/>
            <a:ext cx="7874361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TIme Period = 20 years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80608" y="5761490"/>
            <a:ext cx="1072355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Total Cost =  2700000 + (45000 + 613200) * 20 = 15.862.200€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80608" y="6386899"/>
            <a:ext cx="1132337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Price/kWh = Total Cost/Total energy production 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5F8F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249543" y="7020061"/>
            <a:ext cx="1132337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5F8F1"/>
                </a:solidFill>
                <a:latin typeface="Canva Sans"/>
                <a:ea typeface="Canva Sans"/>
                <a:cs typeface="Canva Sans"/>
                <a:sym typeface="Canva Sans"/>
              </a:rPr>
              <a:t>= 15.862.200/(8760 * 1000 * 20) = 0,09€/kWh 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5F8F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4628603" y="2648110"/>
            <a:ext cx="9030795" cy="5721434"/>
          </a:xfrm>
          <a:custGeom>
            <a:avLst/>
            <a:gdLst/>
            <a:ahLst/>
            <a:cxnLst/>
            <a:rect l="l" t="t" r="r" b="b"/>
            <a:pathLst>
              <a:path w="9030795" h="5721434">
                <a:moveTo>
                  <a:pt x="0" y="0"/>
                </a:moveTo>
                <a:lnTo>
                  <a:pt x="9030794" y="0"/>
                </a:lnTo>
                <a:lnTo>
                  <a:pt x="9030794" y="5721434"/>
                </a:lnTo>
                <a:lnTo>
                  <a:pt x="0" y="5721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61" t="-49" b="-49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7365324" y="-28575"/>
            <a:ext cx="922676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13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103988" y="8204953"/>
            <a:ext cx="1762423" cy="49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42"/>
              </a:lnSpc>
              <a:spcBef>
                <a:spcPct val="0"/>
              </a:spcBef>
            </a:pPr>
            <a:r>
              <a:rPr lang="en-US" sz="3080" b="1" u="none" strike="noStrike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[4,5,6,7]</a:t>
            </a:r>
          </a:p>
        </p:txBody>
      </p:sp>
    </p:spTree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7999254"/>
            <a:chOff x="0" y="0"/>
            <a:chExt cx="4274726" cy="2106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06799"/>
            </a:xfrm>
            <a:custGeom>
              <a:avLst/>
              <a:gdLst/>
              <a:ahLst/>
              <a:cxnLst/>
              <a:rect l="l" t="t" r="r" b="b"/>
              <a:pathLst>
                <a:path w="4274726" h="2106799">
                  <a:moveTo>
                    <a:pt x="0" y="0"/>
                  </a:moveTo>
                  <a:lnTo>
                    <a:pt x="4274726" y="0"/>
                  </a:lnTo>
                  <a:lnTo>
                    <a:pt x="4274726" y="2106799"/>
                  </a:lnTo>
                  <a:lnTo>
                    <a:pt x="0" y="2106799"/>
                  </a:lnTo>
                  <a:close/>
                </a:path>
              </a:pathLst>
            </a:custGeom>
            <a:solidFill>
              <a:srgbClr val="FFFFFF"/>
            </a:solidFill>
            <a:ln w="304800" cap="sq">
              <a:solidFill>
                <a:srgbClr val="FEF5D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144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887133" y="2352835"/>
            <a:ext cx="10513733" cy="6119866"/>
          </a:xfrm>
          <a:custGeom>
            <a:avLst/>
            <a:gdLst/>
            <a:ahLst/>
            <a:cxnLst/>
            <a:rect l="l" t="t" r="r" b="b"/>
            <a:pathLst>
              <a:path w="10513733" h="6119866">
                <a:moveTo>
                  <a:pt x="0" y="0"/>
                </a:moveTo>
                <a:lnTo>
                  <a:pt x="10513734" y="0"/>
                </a:lnTo>
                <a:lnTo>
                  <a:pt x="10513734" y="6119866"/>
                </a:lnTo>
                <a:lnTo>
                  <a:pt x="0" y="6119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185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19080" y="1248570"/>
            <a:ext cx="14849841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March Rough"/>
                <a:ea typeface="March Rough"/>
                <a:cs typeface="March Rough"/>
                <a:sym typeface="March Rough"/>
              </a:rPr>
              <a:t>Graphical Illustration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72001" y="9119158"/>
            <a:ext cx="6815999" cy="98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PRESENTED BY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MD ASIFUR RAHMAN SAIKOT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365324" y="-28575"/>
            <a:ext cx="922676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14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196405" y="8212123"/>
            <a:ext cx="1762423" cy="49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42"/>
              </a:lnSpc>
              <a:spcBef>
                <a:spcPct val="0"/>
              </a:spcBef>
            </a:pPr>
            <a:r>
              <a:rPr lang="en-US" sz="3080" b="1" u="none" strike="noStrike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[4,5,6,7]</a:t>
            </a:r>
          </a:p>
        </p:txBody>
      </p:sp>
    </p:spTree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7999254"/>
            <a:chOff x="0" y="0"/>
            <a:chExt cx="4274726" cy="2106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06799"/>
            </a:xfrm>
            <a:custGeom>
              <a:avLst/>
              <a:gdLst/>
              <a:ahLst/>
              <a:cxnLst/>
              <a:rect l="l" t="t" r="r" b="b"/>
              <a:pathLst>
                <a:path w="4274726" h="2106799">
                  <a:moveTo>
                    <a:pt x="0" y="0"/>
                  </a:moveTo>
                  <a:lnTo>
                    <a:pt x="4274726" y="0"/>
                  </a:lnTo>
                  <a:lnTo>
                    <a:pt x="4274726" y="2106799"/>
                  </a:lnTo>
                  <a:lnTo>
                    <a:pt x="0" y="2106799"/>
                  </a:lnTo>
                  <a:close/>
                </a:path>
              </a:pathLst>
            </a:custGeom>
            <a:solidFill>
              <a:srgbClr val="FFFFFF"/>
            </a:solidFill>
            <a:ln w="304800" cap="sq">
              <a:solidFill>
                <a:srgbClr val="FEF5D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144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630841" y="2352835"/>
            <a:ext cx="11026319" cy="6247789"/>
          </a:xfrm>
          <a:custGeom>
            <a:avLst/>
            <a:gdLst/>
            <a:ahLst/>
            <a:cxnLst/>
            <a:rect l="l" t="t" r="r" b="b"/>
            <a:pathLst>
              <a:path w="11026319" h="6247789">
                <a:moveTo>
                  <a:pt x="0" y="0"/>
                </a:moveTo>
                <a:lnTo>
                  <a:pt x="11026318" y="0"/>
                </a:lnTo>
                <a:lnTo>
                  <a:pt x="11026318" y="6247789"/>
                </a:lnTo>
                <a:lnTo>
                  <a:pt x="0" y="62477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40" b="-456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19080" y="1248570"/>
            <a:ext cx="14849841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March Rough"/>
                <a:ea typeface="March Rough"/>
                <a:cs typeface="March Rough"/>
                <a:sym typeface="March Rough"/>
              </a:rPr>
              <a:t>Graphical Illustration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72001" y="9119158"/>
            <a:ext cx="6815999" cy="98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PRESENTED BY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MD ASIFUR RAHMAN SAIKOT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365324" y="-28575"/>
            <a:ext cx="922676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15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168856" y="8108042"/>
            <a:ext cx="1762423" cy="49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42"/>
              </a:lnSpc>
              <a:spcBef>
                <a:spcPct val="0"/>
              </a:spcBef>
            </a:pPr>
            <a:r>
              <a:rPr lang="en-US" sz="3080" b="1" u="none" strike="noStrike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[4,5,6,7]</a:t>
            </a:r>
          </a:p>
        </p:txBody>
      </p:sp>
    </p:spTree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7999254"/>
            <a:chOff x="0" y="0"/>
            <a:chExt cx="4274726" cy="2106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06799"/>
            </a:xfrm>
            <a:custGeom>
              <a:avLst/>
              <a:gdLst/>
              <a:ahLst/>
              <a:cxnLst/>
              <a:rect l="l" t="t" r="r" b="b"/>
              <a:pathLst>
                <a:path w="4274726" h="2106799">
                  <a:moveTo>
                    <a:pt x="0" y="0"/>
                  </a:moveTo>
                  <a:lnTo>
                    <a:pt x="4274726" y="0"/>
                  </a:lnTo>
                  <a:lnTo>
                    <a:pt x="4274726" y="2106799"/>
                  </a:lnTo>
                  <a:lnTo>
                    <a:pt x="0" y="2106799"/>
                  </a:lnTo>
                  <a:close/>
                </a:path>
              </a:pathLst>
            </a:custGeom>
            <a:solidFill>
              <a:srgbClr val="FFFFFF"/>
            </a:solidFill>
            <a:ln w="304800" cap="sq">
              <a:solidFill>
                <a:srgbClr val="FEF5D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144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630841" y="2352835"/>
            <a:ext cx="11026319" cy="5992862"/>
          </a:xfrm>
          <a:custGeom>
            <a:avLst/>
            <a:gdLst/>
            <a:ahLst/>
            <a:cxnLst/>
            <a:rect l="l" t="t" r="r" b="b"/>
            <a:pathLst>
              <a:path w="11026319" h="5992862">
                <a:moveTo>
                  <a:pt x="0" y="0"/>
                </a:moveTo>
                <a:lnTo>
                  <a:pt x="11026318" y="0"/>
                </a:lnTo>
                <a:lnTo>
                  <a:pt x="11026318" y="5992862"/>
                </a:lnTo>
                <a:lnTo>
                  <a:pt x="0" y="59928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004" b="-5504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19080" y="1248570"/>
            <a:ext cx="14849841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March Rough"/>
                <a:ea typeface="March Rough"/>
                <a:cs typeface="March Rough"/>
                <a:sym typeface="March Rough"/>
              </a:rPr>
              <a:t>Graphical Illustration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72001" y="9119158"/>
            <a:ext cx="6815999" cy="98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PRESENTED BY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MD ASIFUR RAHMAN SAIKOT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365324" y="-28575"/>
            <a:ext cx="922676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16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156303" y="8317122"/>
            <a:ext cx="1762423" cy="49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42"/>
              </a:lnSpc>
              <a:spcBef>
                <a:spcPct val="0"/>
              </a:spcBef>
            </a:pPr>
            <a:r>
              <a:rPr lang="en-US" sz="3080" b="1" u="none" strike="noStrike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[4,5,6,7]</a:t>
            </a:r>
          </a:p>
        </p:txBody>
      </p:sp>
    </p:spTree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09581" y="8357590"/>
            <a:ext cx="19507163" cy="3143220"/>
            <a:chOff x="0" y="0"/>
            <a:chExt cx="5137689" cy="8278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37689" cy="827844"/>
            </a:xfrm>
            <a:custGeom>
              <a:avLst/>
              <a:gdLst/>
              <a:ahLst/>
              <a:cxnLst/>
              <a:rect l="l" t="t" r="r" b="b"/>
              <a:pathLst>
                <a:path w="5137689" h="827844">
                  <a:moveTo>
                    <a:pt x="0" y="0"/>
                  </a:moveTo>
                  <a:lnTo>
                    <a:pt x="5137689" y="0"/>
                  </a:lnTo>
                  <a:lnTo>
                    <a:pt x="5137689" y="827844"/>
                  </a:lnTo>
                  <a:lnTo>
                    <a:pt x="0" y="827844"/>
                  </a:lnTo>
                  <a:close/>
                </a:path>
              </a:pathLst>
            </a:custGeom>
            <a:solidFill>
              <a:srgbClr val="FEF5D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137689" cy="8659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09581" y="8925308"/>
            <a:ext cx="19507163" cy="3143220"/>
            <a:chOff x="0" y="0"/>
            <a:chExt cx="5137689" cy="8278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37689" cy="827844"/>
            </a:xfrm>
            <a:custGeom>
              <a:avLst/>
              <a:gdLst/>
              <a:ahLst/>
              <a:cxnLst/>
              <a:rect l="l" t="t" r="r" b="b"/>
              <a:pathLst>
                <a:path w="5137689" h="827844">
                  <a:moveTo>
                    <a:pt x="0" y="0"/>
                  </a:moveTo>
                  <a:lnTo>
                    <a:pt x="5137689" y="0"/>
                  </a:lnTo>
                  <a:lnTo>
                    <a:pt x="5137689" y="827844"/>
                  </a:lnTo>
                  <a:lnTo>
                    <a:pt x="0" y="827844"/>
                  </a:lnTo>
                  <a:close/>
                </a:path>
              </a:pathLst>
            </a:custGeom>
            <a:solidFill>
              <a:srgbClr val="D2E8A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137689" cy="8659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139932"/>
            <a:ext cx="16230600" cy="447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7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March"/>
                <a:ea typeface="March"/>
                <a:cs typeface="March"/>
                <a:sym typeface="March"/>
              </a:rPr>
              <a:t>Our thesis statement claims that wind power is cheaper than gas turbines. </a:t>
            </a:r>
          </a:p>
          <a:p>
            <a:pPr marL="690877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March"/>
                <a:ea typeface="March"/>
                <a:cs typeface="March"/>
                <a:sym typeface="March"/>
              </a:rPr>
              <a:t>However, the 2020 data suggests otherwise. </a:t>
            </a:r>
          </a:p>
          <a:p>
            <a:pPr marL="690877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March"/>
                <a:ea typeface="March"/>
                <a:cs typeface="March"/>
                <a:sym typeface="March"/>
              </a:rPr>
              <a:t>This data predates the Russian Special Military Operation in Ukraine when Russia was the EU's primary gas supplier. </a:t>
            </a:r>
          </a:p>
          <a:p>
            <a:pPr marL="690877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March"/>
                <a:ea typeface="March"/>
                <a:cs typeface="March"/>
                <a:sym typeface="March"/>
              </a:rPr>
              <a:t>Since 2022, the geopolitical shift has increased gas prices and electricity costs. </a:t>
            </a:r>
          </a:p>
          <a:p>
            <a:pPr marL="690877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March"/>
                <a:ea typeface="March"/>
                <a:cs typeface="March"/>
                <a:sym typeface="March"/>
              </a:rPr>
              <a:t>Although we lack recent data, gas turbine costs most likely match or exceed wind power costs.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199">
              <a:solidFill>
                <a:srgbClr val="000000"/>
              </a:solidFill>
              <a:latin typeface="March"/>
              <a:ea typeface="March"/>
              <a:cs typeface="March"/>
              <a:sym typeface="March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401322" y="6019117"/>
            <a:ext cx="2468044" cy="2338472"/>
          </a:xfrm>
          <a:custGeom>
            <a:avLst/>
            <a:gdLst/>
            <a:ahLst/>
            <a:cxnLst/>
            <a:rect l="l" t="t" r="r" b="b"/>
            <a:pathLst>
              <a:path w="2468044" h="2338472">
                <a:moveTo>
                  <a:pt x="0" y="0"/>
                </a:moveTo>
                <a:lnTo>
                  <a:pt x="2468044" y="0"/>
                </a:lnTo>
                <a:lnTo>
                  <a:pt x="2468044" y="2338473"/>
                </a:lnTo>
                <a:lnTo>
                  <a:pt x="0" y="23384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546846" y="6278817"/>
            <a:ext cx="2501779" cy="2078773"/>
          </a:xfrm>
          <a:custGeom>
            <a:avLst/>
            <a:gdLst/>
            <a:ahLst/>
            <a:cxnLst/>
            <a:rect l="l" t="t" r="r" b="b"/>
            <a:pathLst>
              <a:path w="2501779" h="2078773">
                <a:moveTo>
                  <a:pt x="0" y="0"/>
                </a:moveTo>
                <a:lnTo>
                  <a:pt x="2501779" y="0"/>
                </a:lnTo>
                <a:lnTo>
                  <a:pt x="2501779" y="2078773"/>
                </a:lnTo>
                <a:lnTo>
                  <a:pt x="0" y="20787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486400" y="6574137"/>
            <a:ext cx="7315200" cy="1557430"/>
          </a:xfrm>
          <a:custGeom>
            <a:avLst/>
            <a:gdLst/>
            <a:ahLst/>
            <a:cxnLst/>
            <a:rect l="l" t="t" r="r" b="b"/>
            <a:pathLst>
              <a:path w="7315200" h="1557430">
                <a:moveTo>
                  <a:pt x="0" y="0"/>
                </a:moveTo>
                <a:lnTo>
                  <a:pt x="7315200" y="0"/>
                </a:lnTo>
                <a:lnTo>
                  <a:pt x="7315200" y="1557430"/>
                </a:lnTo>
                <a:lnTo>
                  <a:pt x="0" y="15574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365163" y="373363"/>
            <a:ext cx="13557673" cy="182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80"/>
              </a:lnSpc>
              <a:spcBef>
                <a:spcPct val="0"/>
              </a:spcBef>
            </a:pPr>
            <a:r>
              <a:rPr lang="en-US" sz="10700">
                <a:solidFill>
                  <a:srgbClr val="000000"/>
                </a:solidFill>
                <a:latin typeface="March Rough"/>
                <a:ea typeface="March Rough"/>
                <a:cs typeface="March Rough"/>
                <a:sym typeface="March Rough"/>
              </a:rPr>
              <a:t>Conclusion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365324" y="-28575"/>
            <a:ext cx="922676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17</a:t>
            </a:r>
          </a:p>
        </p:txBody>
      </p:sp>
    </p:spTree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09581" y="8357590"/>
            <a:ext cx="19507163" cy="3143220"/>
            <a:chOff x="0" y="0"/>
            <a:chExt cx="5137689" cy="8278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37689" cy="827844"/>
            </a:xfrm>
            <a:custGeom>
              <a:avLst/>
              <a:gdLst/>
              <a:ahLst/>
              <a:cxnLst/>
              <a:rect l="l" t="t" r="r" b="b"/>
              <a:pathLst>
                <a:path w="5137689" h="827844">
                  <a:moveTo>
                    <a:pt x="0" y="0"/>
                  </a:moveTo>
                  <a:lnTo>
                    <a:pt x="5137689" y="0"/>
                  </a:lnTo>
                  <a:lnTo>
                    <a:pt x="5137689" y="827844"/>
                  </a:lnTo>
                  <a:lnTo>
                    <a:pt x="0" y="827844"/>
                  </a:lnTo>
                  <a:close/>
                </a:path>
              </a:pathLst>
            </a:custGeom>
            <a:solidFill>
              <a:srgbClr val="FEF5D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137689" cy="8659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09581" y="8925308"/>
            <a:ext cx="19507163" cy="3143220"/>
            <a:chOff x="0" y="0"/>
            <a:chExt cx="5137689" cy="8278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37689" cy="827844"/>
            </a:xfrm>
            <a:custGeom>
              <a:avLst/>
              <a:gdLst/>
              <a:ahLst/>
              <a:cxnLst/>
              <a:rect l="l" t="t" r="r" b="b"/>
              <a:pathLst>
                <a:path w="5137689" h="827844">
                  <a:moveTo>
                    <a:pt x="0" y="0"/>
                  </a:moveTo>
                  <a:lnTo>
                    <a:pt x="5137689" y="0"/>
                  </a:lnTo>
                  <a:lnTo>
                    <a:pt x="5137689" y="827844"/>
                  </a:lnTo>
                  <a:lnTo>
                    <a:pt x="0" y="827844"/>
                  </a:lnTo>
                  <a:close/>
                </a:path>
              </a:pathLst>
            </a:custGeom>
            <a:solidFill>
              <a:srgbClr val="D2E8A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137689" cy="8659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565932"/>
            <a:ext cx="16797962" cy="668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[1]M. A. Mueller, H. Polinder, and D. E. Macpherson, "Experimental tests of an air-cored PM tubular generator for direct drive wave energy converters," IET Renewable Power Generation, vol. 2, no. 1, pp. 1–10, Jan. 2008. [Online]. Available: https://digital-library.theiet.org/content/journals/10.1049/iet-rpg:20070001. [Accessed: Jan. 2, 2025].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[2]H. E. Payne, "Repurposing Fossil Infrastructure," Journal of Climate and Energy Law, vol. 15, no. 3, pp. 45–78, 2023. [Online]. Available: https://digital.sandiego.edu/jcel/vol15/iss0/3/. [Accessed: Jan. 2, 2025].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[3]A. M. Costa, J. A. Orosa, D. Vergara, and P. Fernández-Arias, "New Tendencies in Wind Energy Operation and Maintenance," Applied Sciences, vol. 11, no. 1386, pp. 1-26, 2021. 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[4]International Renewable Energy Agency (IRENA), "Renewable Energy Cost Analysis: Wind Power," 2020. [Online]. Available: https://www.irena.org/-/media/Files/IRENA/Agency/Publication/2020/RE_Technologies_Cost_Analysis-WIND_POWER.pdf. [Accessed: Jan. 2, 2025].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[5]European Commission, "Final Report Cost of Energy (LCOE)," 2020. [Online]. Available: https://energy.ec.europa.eu/system/files/2020-10/final_report_levelised_costs_0.pdf. [Accessed: Jan. 2, 2025].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[6]Fraunhofer Institute for Solar Energy Systems ISE, "Study: Levelized Cost of Electricity Renewable Energy Technologies," 2024. [Online]. Available: https://www.ise.fraunhofer.de/content/dam/ise/en/documents/publications/studies/EN2024_ISE_Study_Levelized_Cost_of_Electricity_Renewable_Energy_Technologies.pdf. [Accessed: Jan. 2, 2025].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[7]International Energy Agency (IEA), "Projected Costs of Generating Electricity 2020," 2020. [Online]. Available: https://www.iea.org/reports/projected-costs-of-generating-electricity-2020. [Accessed: Jan. 2, 2025].</a:t>
            </a:r>
          </a:p>
          <a:p>
            <a:pPr marL="431799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[8]OpenAI, "Conceptual illustration: Natural gas and wind power plants," DALL-E, Jan. 2025. [Online]. Available: ChatGPT interface.</a:t>
            </a:r>
          </a:p>
        </p:txBody>
      </p:sp>
      <p:sp>
        <p:nvSpPr>
          <p:cNvPr id="9" name="Freeform 9"/>
          <p:cNvSpPr/>
          <p:nvPr/>
        </p:nvSpPr>
        <p:spPr>
          <a:xfrm>
            <a:off x="11713587" y="77243"/>
            <a:ext cx="1438370" cy="1383450"/>
          </a:xfrm>
          <a:custGeom>
            <a:avLst/>
            <a:gdLst/>
            <a:ahLst/>
            <a:cxnLst/>
            <a:rect l="l" t="t" r="r" b="b"/>
            <a:pathLst>
              <a:path w="1438370" h="1383450">
                <a:moveTo>
                  <a:pt x="0" y="0"/>
                </a:moveTo>
                <a:lnTo>
                  <a:pt x="1438370" y="0"/>
                </a:lnTo>
                <a:lnTo>
                  <a:pt x="1438370" y="1383450"/>
                </a:lnTo>
                <a:lnTo>
                  <a:pt x="0" y="1383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365163" y="230488"/>
            <a:ext cx="13557673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March Rough"/>
                <a:ea typeface="March Rough"/>
                <a:cs typeface="March Rough"/>
                <a:sym typeface="March Rough"/>
              </a:rPr>
              <a:t>Bibliography: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365324" y="-28575"/>
            <a:ext cx="922676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18</a:t>
            </a:r>
          </a:p>
        </p:txBody>
      </p:sp>
    </p:spTree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09609" y="2842496"/>
            <a:ext cx="12868781" cy="3271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16"/>
              </a:lnSpc>
              <a:spcBef>
                <a:spcPct val="0"/>
              </a:spcBef>
            </a:pPr>
            <a:r>
              <a:rPr lang="en-US" sz="9368">
                <a:solidFill>
                  <a:srgbClr val="000000"/>
                </a:solidFill>
                <a:latin typeface="March Rough"/>
                <a:ea typeface="March Rough"/>
                <a:cs typeface="March Rough"/>
                <a:sym typeface="March Rough"/>
              </a:rPr>
              <a:t>Thank you very much for your attentions!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609581" y="8357590"/>
            <a:ext cx="19507163" cy="3143220"/>
            <a:chOff x="0" y="0"/>
            <a:chExt cx="5137689" cy="8278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37689" cy="827844"/>
            </a:xfrm>
            <a:custGeom>
              <a:avLst/>
              <a:gdLst/>
              <a:ahLst/>
              <a:cxnLst/>
              <a:rect l="l" t="t" r="r" b="b"/>
              <a:pathLst>
                <a:path w="5137689" h="827844">
                  <a:moveTo>
                    <a:pt x="0" y="0"/>
                  </a:moveTo>
                  <a:lnTo>
                    <a:pt x="5137689" y="0"/>
                  </a:lnTo>
                  <a:lnTo>
                    <a:pt x="5137689" y="827844"/>
                  </a:lnTo>
                  <a:lnTo>
                    <a:pt x="0" y="827844"/>
                  </a:lnTo>
                  <a:close/>
                </a:path>
              </a:pathLst>
            </a:custGeom>
            <a:solidFill>
              <a:srgbClr val="FEF5D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137689" cy="8659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09581" y="8925308"/>
            <a:ext cx="19507163" cy="3143220"/>
            <a:chOff x="0" y="0"/>
            <a:chExt cx="5137689" cy="8278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37689" cy="827844"/>
            </a:xfrm>
            <a:custGeom>
              <a:avLst/>
              <a:gdLst/>
              <a:ahLst/>
              <a:cxnLst/>
              <a:rect l="l" t="t" r="r" b="b"/>
              <a:pathLst>
                <a:path w="5137689" h="827844">
                  <a:moveTo>
                    <a:pt x="0" y="0"/>
                  </a:moveTo>
                  <a:lnTo>
                    <a:pt x="5137689" y="0"/>
                  </a:lnTo>
                  <a:lnTo>
                    <a:pt x="5137689" y="827844"/>
                  </a:lnTo>
                  <a:lnTo>
                    <a:pt x="0" y="827844"/>
                  </a:lnTo>
                  <a:close/>
                </a:path>
              </a:pathLst>
            </a:custGeom>
            <a:solidFill>
              <a:srgbClr val="D2E8A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137689" cy="8659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553055" y="-158759"/>
            <a:ext cx="5734945" cy="4114800"/>
          </a:xfrm>
          <a:custGeom>
            <a:avLst/>
            <a:gdLst/>
            <a:ahLst/>
            <a:cxnLst/>
            <a:rect l="l" t="t" r="r" b="b"/>
            <a:pathLst>
              <a:path w="5734945" h="4114800">
                <a:moveTo>
                  <a:pt x="0" y="0"/>
                </a:moveTo>
                <a:lnTo>
                  <a:pt x="5734945" y="0"/>
                </a:lnTo>
                <a:lnTo>
                  <a:pt x="57349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0" y="0"/>
            <a:ext cx="5734945" cy="4114800"/>
          </a:xfrm>
          <a:custGeom>
            <a:avLst/>
            <a:gdLst/>
            <a:ahLst/>
            <a:cxnLst/>
            <a:rect l="l" t="t" r="r" b="b"/>
            <a:pathLst>
              <a:path w="5734945" h="4114800">
                <a:moveTo>
                  <a:pt x="5734945" y="0"/>
                </a:moveTo>
                <a:lnTo>
                  <a:pt x="0" y="0"/>
                </a:lnTo>
                <a:lnTo>
                  <a:pt x="0" y="4114800"/>
                </a:lnTo>
                <a:lnTo>
                  <a:pt x="5734945" y="4114800"/>
                </a:lnTo>
                <a:lnTo>
                  <a:pt x="57349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365324" y="-28575"/>
            <a:ext cx="922676" cy="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19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6874396"/>
            <a:ext cx="9620201" cy="1483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0"/>
              </a:lnSpc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PRESENTED BY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ANTHONY PENN NCHINDA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MD SAZZAD HOSSAIN KHAN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70495" y="7369696"/>
            <a:ext cx="9620201" cy="98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YE HTET KYAW</a:t>
            </a:r>
          </a:p>
          <a:p>
            <a:pPr marL="664731" lvl="1" indent="-332366" algn="just">
              <a:lnSpc>
                <a:spcPts val="394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MD ASIFUR RAHMAN SAIKOT</a:t>
            </a:r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1426</Words>
  <Application>Microsoft Office PowerPoint</Application>
  <PresentationFormat>Custom</PresentationFormat>
  <Paragraphs>191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Aileron</vt:lpstr>
      <vt:lpstr>Canva Sans Italics</vt:lpstr>
      <vt:lpstr>Comic Sans</vt:lpstr>
      <vt:lpstr>Comic Sans Bold</vt:lpstr>
      <vt:lpstr>March</vt:lpstr>
      <vt:lpstr>Arial</vt:lpstr>
      <vt:lpstr>Calibri</vt:lpstr>
      <vt:lpstr>March Rough</vt:lpstr>
      <vt:lpstr>Canva Sans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Comparison of Wind Power and Gas-Powered Thermal Power Plants in Europe</dc:title>
  <cp:lastModifiedBy>ASIFUR RHAMAN</cp:lastModifiedBy>
  <cp:revision>6</cp:revision>
  <dcterms:created xsi:type="dcterms:W3CDTF">2006-08-16T00:00:00Z</dcterms:created>
  <dcterms:modified xsi:type="dcterms:W3CDTF">2025-01-06T17:38:32Z</dcterms:modified>
  <dc:identifier>DAGbR1HI_xE</dc:identifier>
</cp:coreProperties>
</file>